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8ba7260379483e" /><Relationship Type="http://schemas.openxmlformats.org/officeDocument/2006/relationships/extended-properties" Target="/docProps/app.xml" Id="Rfec1f59f92aa4b16" /><Relationship Type="http://schemas.openxmlformats.org/officeDocument/2006/relationships/officeDocument" Target="/ppt/presentation.xml" Id="R7f831a8ff36e44fe" /></Relationships>
</file>

<file path=ppt/presentation.xml><?xml version="1.0" encoding="utf-8"?>
<p:presentation xmlns:p="http://schemas.openxmlformats.org/presentationml/2006/main">
  <p:sldMasterIdLst>
    <p:sldMasterId xmlns:r="http://schemas.openxmlformats.org/officeDocument/2006/relationships" id="2147483648" r:id="Ra258b08cada24b92"/>
  </p:sldMasterIdLst>
  <p:notesMasterIdLst>
    <p:notesMasterId xmlns:r="http://schemas.openxmlformats.org/officeDocument/2006/relationships" r:id="R6d2280b5b1274eb1"/>
  </p:notesMasterIdLst>
  <p:sldIdLst>
    <p:sldId xmlns:r="http://schemas.openxmlformats.org/officeDocument/2006/relationships" id="256" r:id="R2885f2dd11154208"/>
    <p:sldId xmlns:r="http://schemas.openxmlformats.org/officeDocument/2006/relationships" id="257" r:id="Rc9cce44848124248"/>
    <p:sldId xmlns:r="http://schemas.openxmlformats.org/officeDocument/2006/relationships" id="258" r:id="Rd694f659fbde439c"/>
    <p:sldId xmlns:r="http://schemas.openxmlformats.org/officeDocument/2006/relationships" id="259" r:id="R9a526f8c76ff4090"/>
    <p:sldId xmlns:r="http://schemas.openxmlformats.org/officeDocument/2006/relationships" id="260" r:id="R2e6854209cef44cb"/>
    <p:sldId xmlns:r="http://schemas.openxmlformats.org/officeDocument/2006/relationships" id="261" r:id="R06694446e8b14988"/>
    <p:sldId xmlns:r="http://schemas.openxmlformats.org/officeDocument/2006/relationships" id="262" r:id="R04fa8aee5d79421a"/>
    <p:sldId xmlns:r="http://schemas.openxmlformats.org/officeDocument/2006/relationships" id="263" r:id="Rb6894efde15d4b5b"/>
    <p:sldId xmlns:r="http://schemas.openxmlformats.org/officeDocument/2006/relationships" id="264" r:id="R65f5a60ffa574e2c"/>
    <p:sldId xmlns:r="http://schemas.openxmlformats.org/officeDocument/2006/relationships" id="265" r:id="R88c66e1129224305"/>
    <p:sldId xmlns:r="http://schemas.openxmlformats.org/officeDocument/2006/relationships" id="266" r:id="R5e276b465245403a"/>
    <p:sldId xmlns:r="http://schemas.openxmlformats.org/officeDocument/2006/relationships" id="267" r:id="R6ca6669fd208484f"/>
    <p:sldId xmlns:r="http://schemas.openxmlformats.org/officeDocument/2006/relationships" id="268" r:id="R6d06c1e92fe24415"/>
    <p:sldId xmlns:r="http://schemas.openxmlformats.org/officeDocument/2006/relationships" id="269" r:id="Rfdad2b5764c94bcb"/>
    <p:sldId xmlns:r="http://schemas.openxmlformats.org/officeDocument/2006/relationships" id="270" r:id="R2c2076c3f04c496e"/>
    <p:sldId xmlns:r="http://schemas.openxmlformats.org/officeDocument/2006/relationships" id="271" r:id="Rb202a42dd8b64fca"/>
    <p:sldId xmlns:r="http://schemas.openxmlformats.org/officeDocument/2006/relationships" id="272" r:id="R47ea938d81704aab"/>
    <p:sldId xmlns:r="http://schemas.openxmlformats.org/officeDocument/2006/relationships" id="273" r:id="Ra07b3f6017244444"/>
    <p:sldId xmlns:r="http://schemas.openxmlformats.org/officeDocument/2006/relationships" id="274" r:id="R92f1c90bf0e5490b"/>
    <p:sldId xmlns:r="http://schemas.openxmlformats.org/officeDocument/2006/relationships" id="275" r:id="R0fba3f45946945e7"/>
    <p:sldId xmlns:r="http://schemas.openxmlformats.org/officeDocument/2006/relationships" id="276" r:id="Rbbdf2b44e96441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bdb07ec8844d01" /><Relationship Type="http://schemas.openxmlformats.org/officeDocument/2006/relationships/slideMaster" Target="/ppt/slideMasters/slideMaster1.xml" Id="Ra258b08cada24b92" /><Relationship Type="http://schemas.openxmlformats.org/officeDocument/2006/relationships/notesMaster" Target="/ppt/notesMasters/notesMaster1.xml" Id="R6d2280b5b1274eb1" /><Relationship Type="http://schemas.openxmlformats.org/officeDocument/2006/relationships/presProps" Target="/ppt/presProps.xml" Id="Rd5defbc948ac4831" /><Relationship Type="http://schemas.openxmlformats.org/officeDocument/2006/relationships/tableStyles" Target="/ppt/tableStyles.xml" Id="R8cbe45f9d4074dbd" /><Relationship Type="http://schemas.openxmlformats.org/officeDocument/2006/relationships/slide" Target="/ppt/slides/slide1.xml" Id="R2885f2dd11154208" /><Relationship Type="http://schemas.openxmlformats.org/officeDocument/2006/relationships/slide" Target="/ppt/slides/slide2.xml" Id="Rc9cce44848124248" /><Relationship Type="http://schemas.openxmlformats.org/officeDocument/2006/relationships/slide" Target="/ppt/slides/slide3.xml" Id="Rd694f659fbde439c" /><Relationship Type="http://schemas.openxmlformats.org/officeDocument/2006/relationships/slide" Target="/ppt/slides/slide4.xml" Id="R9a526f8c76ff4090" /><Relationship Type="http://schemas.openxmlformats.org/officeDocument/2006/relationships/slide" Target="/ppt/slides/slide5.xml" Id="R2e6854209cef44cb" /><Relationship Type="http://schemas.openxmlformats.org/officeDocument/2006/relationships/slide" Target="/ppt/slides/slide6.xml" Id="R06694446e8b14988" /><Relationship Type="http://schemas.openxmlformats.org/officeDocument/2006/relationships/slide" Target="/ppt/slides/slide7.xml" Id="R04fa8aee5d79421a" /><Relationship Type="http://schemas.openxmlformats.org/officeDocument/2006/relationships/slide" Target="/ppt/slides/slide8.xml" Id="Rb6894efde15d4b5b" /><Relationship Type="http://schemas.openxmlformats.org/officeDocument/2006/relationships/slide" Target="/ppt/slides/slide9.xml" Id="R65f5a60ffa574e2c" /><Relationship Type="http://schemas.openxmlformats.org/officeDocument/2006/relationships/slide" Target="/ppt/slides/slide10.xml" Id="R88c66e1129224305" /><Relationship Type="http://schemas.openxmlformats.org/officeDocument/2006/relationships/slide" Target="/ppt/slides/slide11.xml" Id="R5e276b465245403a" /><Relationship Type="http://schemas.openxmlformats.org/officeDocument/2006/relationships/slide" Target="/ppt/slides/slide12.xml" Id="R6ca6669fd208484f" /><Relationship Type="http://schemas.openxmlformats.org/officeDocument/2006/relationships/slide" Target="/ppt/slides/slide13.xml" Id="R6d06c1e92fe24415" /><Relationship Type="http://schemas.openxmlformats.org/officeDocument/2006/relationships/slide" Target="/ppt/slides/slide14.xml" Id="Rfdad2b5764c94bcb" /><Relationship Type="http://schemas.openxmlformats.org/officeDocument/2006/relationships/slide" Target="/ppt/slides/slide15.xml" Id="R2c2076c3f04c496e" /><Relationship Type="http://schemas.openxmlformats.org/officeDocument/2006/relationships/slide" Target="/ppt/slides/slide16.xml" Id="Rb202a42dd8b64fca" /><Relationship Type="http://schemas.openxmlformats.org/officeDocument/2006/relationships/slide" Target="/ppt/slides/slide17.xml" Id="R47ea938d81704aab" /><Relationship Type="http://schemas.openxmlformats.org/officeDocument/2006/relationships/slide" Target="/ppt/slides/slide18.xml" Id="Ra07b3f6017244444" /><Relationship Type="http://schemas.openxmlformats.org/officeDocument/2006/relationships/slide" Target="/ppt/slides/slide19.xml" Id="R92f1c90bf0e5490b" /><Relationship Type="http://schemas.openxmlformats.org/officeDocument/2006/relationships/slide" Target="/ppt/slides/slide20.xml" Id="R0fba3f45946945e7" /><Relationship Type="http://schemas.openxmlformats.org/officeDocument/2006/relationships/slide" Target="/ppt/slides/slide21.xml" Id="Rbbdf2b44e96441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2c61c3136c43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a7d4127f0b4ed5" /><Relationship Type="http://schemas.openxmlformats.org/officeDocument/2006/relationships/notesMaster" Target="/ppt/notesMasters/notesMaster1.xml" Id="R85cc9b130fd142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d6667fcb5145e7" /><Relationship Type="http://schemas.openxmlformats.org/officeDocument/2006/relationships/notesMaster" Target="/ppt/notesMasters/notesMaster1.xml" Id="R676c8cef081441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d3abb123a84fa9" /><Relationship Type="http://schemas.openxmlformats.org/officeDocument/2006/relationships/notesMaster" Target="/ppt/notesMasters/notesMaster1.xml" Id="R766031225c0b46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117538f5864b66" /><Relationship Type="http://schemas.openxmlformats.org/officeDocument/2006/relationships/notesMaster" Target="/ppt/notesMasters/notesMaster1.xml" Id="R4a78c8ceb9354f3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f23e4475904bc8" /><Relationship Type="http://schemas.openxmlformats.org/officeDocument/2006/relationships/notesMaster" Target="/ppt/notesMasters/notesMaster1.xml" Id="R948a301a38c94e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6a37b4dad84400" /><Relationship Type="http://schemas.openxmlformats.org/officeDocument/2006/relationships/notesMaster" Target="/ppt/notesMasters/notesMaster1.xml" Id="Rf358826a68d748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575295e5ed4156" /><Relationship Type="http://schemas.openxmlformats.org/officeDocument/2006/relationships/notesMaster" Target="/ppt/notesMasters/notesMaster1.xml" Id="Radcf5e765c1a43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6de1535eca49aa" /><Relationship Type="http://schemas.openxmlformats.org/officeDocument/2006/relationships/notesMaster" Target="/ppt/notesMasters/notesMaster1.xml" Id="R5a52189d77cc48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29d81c62994cb5" /><Relationship Type="http://schemas.openxmlformats.org/officeDocument/2006/relationships/notesMaster" Target="/ppt/notesMasters/notesMaster1.xml" Id="Ra4183e3149fb4e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be8576eb404a23" /><Relationship Type="http://schemas.openxmlformats.org/officeDocument/2006/relationships/notesMaster" Target="/ppt/notesMasters/notesMaster1.xml" Id="Rb9ab1db5cfd64a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3dd4441c624599" /><Relationship Type="http://schemas.openxmlformats.org/officeDocument/2006/relationships/notesMaster" Target="/ppt/notesMasters/notesMaster1.xml" Id="R0df686686738435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52fb2f398b436b" /><Relationship Type="http://schemas.openxmlformats.org/officeDocument/2006/relationships/notesMaster" Target="/ppt/notesMasters/notesMaster1.xml" Id="R2e831532478b491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b2684f151594932" /><Relationship Type="http://schemas.openxmlformats.org/officeDocument/2006/relationships/notesMaster" Target="/ppt/notesMasters/notesMaster1.xml" Id="R004065e656f74ec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21f6acfdab4418" /><Relationship Type="http://schemas.openxmlformats.org/officeDocument/2006/relationships/notesMaster" Target="/ppt/notesMasters/notesMaster1.xml" Id="Rdef82e6dacaf4c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0ab1d50d0704ac3" /><Relationship Type="http://schemas.openxmlformats.org/officeDocument/2006/relationships/notesMaster" Target="/ppt/notesMasters/notesMaster1.xml" Id="R39c6a9cf757343e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56c5e5e7d445e5" /><Relationship Type="http://schemas.openxmlformats.org/officeDocument/2006/relationships/notesMaster" Target="/ppt/notesMasters/notesMaster1.xml" Id="R78831c3d23574ed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dabb048a6244103" /><Relationship Type="http://schemas.openxmlformats.org/officeDocument/2006/relationships/notesMaster" Target="/ppt/notesMasters/notesMaster1.xml" Id="R209e53d585474ad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18ec2196ee7495a" /><Relationship Type="http://schemas.openxmlformats.org/officeDocument/2006/relationships/notesMaster" Target="/ppt/notesMasters/notesMaster1.xml" Id="R78e9b3bce50047b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06c376bfc694464" /><Relationship Type="http://schemas.openxmlformats.org/officeDocument/2006/relationships/notesMaster" Target="/ppt/notesMasters/notesMaster1.xml" Id="Rc82038954e0b466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2f18e93f95a488d" /><Relationship Type="http://schemas.openxmlformats.org/officeDocument/2006/relationships/notesMaster" Target="/ppt/notesMasters/notesMaster1.xml" Id="R27db17f78e91441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b010224e5084372" /><Relationship Type="http://schemas.openxmlformats.org/officeDocument/2006/relationships/notesMaster" Target="/ppt/notesMasters/notesMaster1.xml" Id="Re0951f92c4a34e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1</a:t>
            </a:r>
          </a:p>
          <a:p xmlns:a="http://schemas.openxmlformats.org/drawingml/2006/main">
            <a:r>
              <a:t>TIEMPO: 00:00–00:35</a:t>
            </a:r>
          </a:p>
          <a:p xmlns:a="http://schemas.openxmlformats.org/drawingml/2006/main">
            <a:r>
              <a:t/>
            </a:r>
          </a:p>
          <a:p xmlns:a="http://schemas.openxmlformats.org/drawingml/2006/main">
            <a:r>
              <a:t>PUESTA EN CÁMARA</a:t>
            </a:r>
          </a:p>
          <a:p xmlns:a="http://schemas.openxmlformats.org/drawingml/2006/main">
            <a:r>
              <a:t>Plano medio. Sostener un celular con la pantalla apagada. Entrar directo con la pregunta, sin una presentación larga del grupo.</a:t>
            </a:r>
          </a:p>
          <a:p xmlns:a="http://schemas.openxmlformats.org/drawingml/2006/main">
            <a:r>
              <a:t/>
            </a:r>
          </a:p>
          <a:p xmlns:a="http://schemas.openxmlformats.org/drawingml/2006/main">
            <a:r>
              <a:t>GUION ORIENTATIVO</a:t>
            </a:r>
          </a:p>
          <a:p xmlns:a="http://schemas.openxmlformats.org/drawingml/2006/main">
            <a:r>
              <a:t>¿Alguna vez te llegó publicidad de una empresa a la que nunca le diste tu número? Piensa unos segundos: ¿cómo lo consiguió? Cada vez que llenamos un formulario, compartimos una foto o nos registramos en una actividad, dejamos información que habla de nosotros. Somos cinco estudiantes y hoy vamos a seguir un caso cotidiano para entender qué protege la ley peruana, qué podemos exigir y cómo cuidar también los datos de otras personas. Al final tendrás una acción concreta para poner en práctica.</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a:p xmlns:a="http://schemas.openxmlformats.org/drawingml/2006/main">
            <a:r>
              <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a:p xmlns:a="http://schemas.openxmlformats.org/drawingml/2006/main">
            <a:r>
              <a:t/>
            </a:r>
          </a:p>
          <a:p xmlns:a="http://schemas.openxmlformats.org/drawingml/2006/main">
            <a:r>
              <a:t>VISUAL</a:t>
            </a:r>
          </a:p>
          <a:p xmlns:a="http://schemas.openxmlformats.org/drawingml/2006/main">
            <a:r>
              <a:t>Ilustración conceptual generada con ImageGen. No representa un suceso ni personas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1</a:t>
            </a:r>
          </a:p>
          <a:p xmlns:a="http://schemas.openxmlformats.org/drawingml/2006/main">
            <a:r>
              <a:t>TIEMPO: 00:35–01:15</a:t>
            </a:r>
          </a:p>
          <a:p xmlns:a="http://schemas.openxmlformats.org/drawingml/2006/main">
            <a:r>
              <a:t/>
            </a:r>
          </a:p>
          <a:p xmlns:a="http://schemas.openxmlformats.org/drawingml/2006/main">
            <a:r>
              <a:t>PUESTA EN CÁMARA</a:t>
            </a:r>
          </a:p>
          <a:p xmlns:a="http://schemas.openxmlformats.org/drawingml/2006/main">
            <a:r>
              <a:t>Mirar a cámara. Dar 5 segundos para pensar. Contar con los dedos sin revelar aún la respuesta. Pasar al siguiente slide para resolver.</a:t>
            </a:r>
          </a:p>
          <a:p xmlns:a="http://schemas.openxmlformats.org/drawingml/2006/main">
            <a:r>
              <a:t/>
            </a:r>
          </a:p>
          <a:p xmlns:a="http://schemas.openxmlformats.org/drawingml/2006/main">
            <a:r>
              <a:t>GUION ORIENTATIVO</a:t>
            </a:r>
          </a:p>
          <a:p xmlns:a="http://schemas.openxmlformats.org/drawingml/2006/main">
            <a:r>
              <a:t>Primera pregunta para ti: ¿cuál de estos datos permite identificar a una persona? El DNI parece la respuesta obvia, pero mira también la foto y el celular. Puedes elegir más de uno. Te damos cinco segundos. [Pausa.] Los tres pueden ser datos personales cuando identifican o hacen identificable a alguien. No hace falta que aparezca el nombre completo. Una foto reconocible o un teléfono asociado a una persona también cuentan. Ahora piensa en una captura de pantalla de un grupo: puede mostrar mucho más de lo que querías compartir.</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1</a:t>
            </a:r>
          </a:p>
          <a:p xmlns:a="http://schemas.openxmlformats.org/drawingml/2006/main">
            <a:r>
              <a:t>TIEMPO: 01:15–02:05</a:t>
            </a:r>
          </a:p>
          <a:p xmlns:a="http://schemas.openxmlformats.org/drawingml/2006/main">
            <a:r>
              <a:t/>
            </a:r>
          </a:p>
          <a:p xmlns:a="http://schemas.openxmlformats.org/drawingml/2006/main">
            <a:r>
              <a:t>PUESTA EN CÁMARA</a:t>
            </a:r>
          </a:p>
          <a:p xmlns:a="http://schemas.openxmlformats.org/drawingml/2006/main">
            <a:r>
              <a:t>Señalar primero la izquierda y luego la derecha. Explicar la diferencia con un caso de salud. No leer cada palabra.</a:t>
            </a:r>
          </a:p>
          <a:p xmlns:a="http://schemas.openxmlformats.org/drawingml/2006/main">
            <a:r>
              <a:t/>
            </a:r>
          </a:p>
          <a:p xmlns:a="http://schemas.openxmlformats.org/drawingml/2006/main">
            <a:r>
              <a:t>GUION ORIENTATIVO</a:t>
            </a:r>
          </a:p>
          <a:p xmlns:a="http://schemas.openxmlformats.org/drawingml/2006/main">
            <a:r>
              <a:t>La ley distingue los datos personales y un grupo que necesita especial cuidado: los datos sensibles. Por ejemplo, un diagnóstico médico, los ingresos económicos o datos biométricos que identifican por sí mismos a una persona. Publicar esa información puede causar discriminación o afectar su intimidad. Una foto reconocible es un dato personal, pero no toda foto se convierte automáticamente en dato biométrico sensible. Pensemos en una lista de asistencia y en una lista de diagnósticos: ambas contienen información de personas, aunque el riesgo de divulgar la segunda es mayor. Cuando se exige consentimiento para tratar datos sensibles, debe constar por escrito, con las excepciones previstas en la ley.</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a:p xmlns:a="http://schemas.openxmlformats.org/drawingml/2006/main">
            <a:r>
              <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1</a:t>
            </a:r>
          </a:p>
          <a:p xmlns:a="http://schemas.openxmlformats.org/drawingml/2006/main">
            <a:r>
              <a:t>TIEMPO: 02:05–03:00</a:t>
            </a:r>
          </a:p>
          <a:p xmlns:a="http://schemas.openxmlformats.org/drawingml/2006/main">
            <a:r>
              <a:t/>
            </a:r>
          </a:p>
          <a:p xmlns:a="http://schemas.openxmlformats.org/drawingml/2006/main">
            <a:r>
              <a:t>PUESTA EN CÁMARA</a:t>
            </a:r>
          </a:p>
          <a:p xmlns:a="http://schemas.openxmlformats.org/drawingml/2006/main">
            <a:r>
              <a:t>Presentar a Alex como personaje ficticio. Simular la llegada de una notificación con un sonido breve. Entregar el turno al integrante 2.</a:t>
            </a:r>
          </a:p>
          <a:p xmlns:a="http://schemas.openxmlformats.org/drawingml/2006/main">
            <a:r>
              <a:t/>
            </a:r>
          </a:p>
          <a:p xmlns:a="http://schemas.openxmlformats.org/drawingml/2006/main">
            <a:r>
              <a:t>GUION ORIENTATIVO</a:t>
            </a:r>
          </a:p>
          <a:p xmlns:a="http://schemas.openxmlformats.org/drawingml/2006/main">
            <a:r>
              <a:t>Nuestro caso es ficticio. Alex se inscribe a un sorteo de una feria y entrega su nombre y celular para participar. Días después recibe mensajes comerciales de un negocio distinto. Alex se pregunta: ¿mi inscripción autorizaba también esa publicidad? No podemos resolverlo solo por ver el mensaje. Habría que revisar qué información recibió, qué finalidad se indicó y qué autorización existía para usar o compartir los datos. Lo que sí sabemos es que participar en una actividad no permite cualquier uso posterior. Guardar, consultar, enviar y compartir datos son formas de tratamiento. Con esta pregunta dejamos el caso abierto para revisar qué exige la ley.</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a:p xmlns:a="http://schemas.openxmlformats.org/drawingml/2006/main">
            <a:r>
              <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2</a:t>
            </a:r>
          </a:p>
          <a:p xmlns:a="http://schemas.openxmlformats.org/drawingml/2006/main">
            <a:r>
              <a:t>TIEMPO: 03:00–03:45</a:t>
            </a:r>
          </a:p>
          <a:p xmlns:a="http://schemas.openxmlformats.org/drawingml/2006/main">
            <a:r>
              <a:t/>
            </a:r>
          </a:p>
          <a:p xmlns:a="http://schemas.openxmlformats.org/drawingml/2006/main">
            <a:r>
              <a:t>PUESTA EN CÁMARA</a:t>
            </a:r>
          </a:p>
          <a:p xmlns:a="http://schemas.openxmlformats.org/drawingml/2006/main">
            <a:r>
              <a:t>Usar el cambio de fondo como inicio del segundo bloque. Explicar ley y reglamento en una frase cada uno.</a:t>
            </a:r>
          </a:p>
          <a:p xmlns:a="http://schemas.openxmlformats.org/drawingml/2006/main">
            <a:r>
              <a:t/>
            </a:r>
          </a:p>
          <a:p xmlns:a="http://schemas.openxmlformats.org/drawingml/2006/main">
            <a:r>
              <a:t>GUION ORIENTATIVO</a:t>
            </a:r>
          </a:p>
          <a:p xmlns:a="http://schemas.openxmlformats.org/drawingml/2006/main">
            <a:r>
              <a:t>La base es la Ley número 29733, Ley de Protección de Datos Personales. Su objetivo es garantizar nuestro derecho a la protección de esa información mediante un tratamiento adecuado. El reglamento vigente lo aprobó el Decreto Supremo 016-2024-JUS y entró en vigor el 31 de marzo de 2025. Ese reglamento sustituyó al aprobado en 2013. La ley establece derechos y principios, y el reglamento desarrolla cómo aplicarlos. Esto alcanza a empresas y entidades públicas que tratan datos en el ámbito de la norma. También puede involucrar formularios físicos: la protección no se limita a aplicaciones o páginas web.</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a:p xmlns:a="http://schemas.openxmlformats.org/drawingml/2006/main">
            <a:r>
              <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a:p xmlns:a="http://schemas.openxmlformats.org/drawingml/2006/main">
            <a:r>
              <a:t/>
            </a:r>
          </a:p>
          <a:p xmlns:a="http://schemas.openxmlformats.org/drawingml/2006/main">
            <a:r>
              <a:t>ANPD: balance de gestión 2018–2025</a:t>
            </a:r>
          </a:p>
          <a:p xmlns:a="http://schemas.openxmlformats.org/drawingml/2006/main">
            <a:r>
              <a:t>https://cdn.www.gob.pe/uploads/document/file/9351482/7666109-balance-de-gestion-2018-2025-autoridad-nacional-de-proteccion-de-datos-personales-anpd%282%29.pdf?v=1771361609</a:t>
            </a:r>
          </a:p>
          <a:p xmlns:a="http://schemas.openxmlformats.org/drawingml/2006/main">
            <a:r>
              <a:t>La ANPD confirma la entrada en vigencia del nuevo reglamento el 31 de marzo de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2</a:t>
            </a:r>
          </a:p>
          <a:p xmlns:a="http://schemas.openxmlformats.org/drawingml/2006/main">
            <a:r>
              <a:t>TIEMPO: 03:45–04:30</a:t>
            </a:r>
          </a:p>
          <a:p xmlns:a="http://schemas.openxmlformats.org/drawingml/2006/main">
            <a:r>
              <a:t/>
            </a:r>
          </a:p>
          <a:p xmlns:a="http://schemas.openxmlformats.org/drawingml/2006/main">
            <a:r>
              <a:t>PUESTA EN CÁMARA</a:t>
            </a:r>
          </a:p>
          <a:p xmlns:a="http://schemas.openxmlformats.org/drawingml/2006/main">
            <a:r>
              <a:t>Recorrer el diagrama en sentido horario. Aplicar cada principio al sorteo, en lugar de repetir las etiquetas.</a:t>
            </a:r>
          </a:p>
          <a:p xmlns:a="http://schemas.openxmlformats.org/drawingml/2006/main">
            <a:r>
              <a:t/>
            </a:r>
          </a:p>
          <a:p xmlns:a="http://schemas.openxmlformats.org/drawingml/2006/main">
            <a:r>
              <a:t>GUION ORIENTATIVO</a:t>
            </a:r>
          </a:p>
          <a:p xmlns:a="http://schemas.openxmlformats.org/drawingml/2006/main">
            <a:r>
              <a:t>Para el caso de Alex destacamos cuatro principios, aunque la ley contempla más. El consentimiento exige autorización cuando corresponde. La finalidad pide definir para qué se utilizarán los datos. La proporcionalidad significa no recoger información excesiva para ese propósito. Y la seguridad exige medidas para proteger lo que se guarda. En un sorteo, pedir un contacto puede tener sentido para avisar al ganador. Pedir su historia clínica exigiría una explicación muy diferente. Luego, dejar la lista al alcance de cualquiera tampoco sería una protección adecuada. La pregunta útil es: ¿este dato es necesario para este propósito y cómo se cuidará?</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2</a:t>
            </a:r>
          </a:p>
          <a:p xmlns:a="http://schemas.openxmlformats.org/drawingml/2006/main">
            <a:r>
              <a:t>TIEMPO: 04:30–05:15</a:t>
            </a:r>
          </a:p>
          <a:p xmlns:a="http://schemas.openxmlformats.org/drawingml/2006/main">
            <a:r>
              <a:t/>
            </a:r>
          </a:p>
          <a:p xmlns:a="http://schemas.openxmlformats.org/drawingml/2006/main">
            <a:r>
              <a:t>PUESTA EN CÁMARA</a:t>
            </a:r>
          </a:p>
          <a:p xmlns:a="http://schemas.openxmlformats.org/drawingml/2006/main">
            <a:r>
              <a:t>Ejemplificar una autorización opcional. Aclarar oralmente que no todos los tratamientos dependen del consentimiento.</a:t>
            </a:r>
          </a:p>
          <a:p xmlns:a="http://schemas.openxmlformats.org/drawingml/2006/main">
            <a:r>
              <a:t/>
            </a:r>
          </a:p>
          <a:p xmlns:a="http://schemas.openxmlformats.org/drawingml/2006/main">
            <a:r>
              <a:t>GUION ORIENTATIVO</a:t>
            </a:r>
          </a:p>
          <a:p xmlns:a="http://schemas.openxmlformats.org/drawingml/2006/main">
            <a:r>
              <a:t>Cuando el consentimiento es la base del tratamiento, debe ser libre, previo, expreso e inequívoco e informado. Libre significa que la decisión no nace de una presión indebida. Previo, que se obtiene antes del uso correspondiente. Expreso e inequívoco, que existe una acción clara de aceptación. Informado, que conoces quién utilizará los datos, para qué y cómo ejercer tus derechos, entre otros aspectos. El silencio no equivale por sí solo a aceptar. Hay excepciones legales, como determinados tratamientos necesarios para una relación contractual o para funciones públicas. Por eso debemos revisar la base de cada uso, sin afirmar que todo requiere una casilla de autorización.</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a:p xmlns:a="http://schemas.openxmlformats.org/drawingml/2006/main">
            <a:r>
              <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2</a:t>
            </a:r>
          </a:p>
          <a:p xmlns:a="http://schemas.openxmlformats.org/drawingml/2006/main">
            <a:r>
              <a:t>TIEMPO: 05:15–06:00</a:t>
            </a:r>
          </a:p>
          <a:p xmlns:a="http://schemas.openxmlformats.org/drawingml/2006/main">
            <a:r>
              <a:t/>
            </a:r>
          </a:p>
          <a:p xmlns:a="http://schemas.openxmlformats.org/drawingml/2006/main">
            <a:r>
              <a:t>PUESTA EN CÁMARA</a:t>
            </a:r>
          </a:p>
          <a:p xmlns:a="http://schemas.openxmlformats.org/drawingml/2006/main">
            <a:r>
              <a:t>Hacer una demostración con un formulario ficticio impreso. Preguntar qué explicación falta. No mostrar datos reales.</a:t>
            </a:r>
          </a:p>
          <a:p xmlns:a="http://schemas.openxmlformats.org/drawingml/2006/main">
            <a:r>
              <a:t/>
            </a:r>
          </a:p>
          <a:p xmlns:a="http://schemas.openxmlformats.org/drawingml/2006/main">
            <a:r>
              <a:t>GUION ORIENTATIVO</a:t>
            </a:r>
          </a:p>
          <a:p xmlns:a="http://schemas.openxmlformats.org/drawingml/2006/main">
            <a:r>
              <a:t>Volvamos al formulario. Si la organización también quiere enviar promociones, debe explicar ese uso adicional y contar con la base válida que corresponda. No alcanza con una frase escondida que Alex nunca pudo comprender. Una buena práctica es distinguir la participación en el sorteo de la decisión de recibir publicidad, sin casillas marcadas de antemano para esa autorización. Además, la organización debe informar sobre aspectos como el responsable, los destinatarios y el canal para ejercer derechos. Esta frase es solo un ejemplo para conversar, no un aviso legal completo. Si Alex nunca autorizó ese uso y no existe otra base aplicable, corresponde cuestionarlo. Nuestro compañero explicará cómo puede actuar.</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a:p xmlns:a="http://schemas.openxmlformats.org/drawingml/2006/main">
            <a:r>
              <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3</a:t>
            </a:r>
          </a:p>
          <a:p xmlns:a="http://schemas.openxmlformats.org/drawingml/2006/main">
            <a:r>
              <a:t>TIEMPO: 06:00–06:50</a:t>
            </a:r>
          </a:p>
          <a:p xmlns:a="http://schemas.openxmlformats.org/drawingml/2006/main">
            <a:r>
              <a:t/>
            </a:r>
          </a:p>
          <a:p xmlns:a="http://schemas.openxmlformats.org/drawingml/2006/main">
            <a:r>
              <a:t>PUESTA EN CÁMARA</a:t>
            </a:r>
          </a:p>
          <a:p xmlns:a="http://schemas.openxmlformats.org/drawingml/2006/main">
            <a:r>
              <a:t>Dar un ejemplo con un correo incorrecto y otro con publicidad. Relacionar cada letra con una necesidad real.</a:t>
            </a:r>
          </a:p>
          <a:p xmlns:a="http://schemas.openxmlformats.org/drawingml/2006/main">
            <a:r>
              <a:t/>
            </a:r>
          </a:p>
          <a:p xmlns:a="http://schemas.openxmlformats.org/drawingml/2006/main">
            <a:r>
              <a:t>GUION ORIENTATIVO</a:t>
            </a:r>
          </a:p>
          <a:p xmlns:a="http://schemas.openxmlformats.org/drawingml/2006/main">
            <a:r>
              <a:t>ARCO reúne cuatro derechos. Acceso permite conocer qué información tienen sobre ti y cómo la utilizan. Rectificación sirve para corregir datos erróneos o desactualizados. Cancelación permite solicitar su supresión en los casos previstos. Oposición permite cuestionar un tratamiento cuando se cumplen sus condiciones. Alex podría pedir acceso para saber de dónde obtuvieron su celular y qué uso le dieron. También puede evaluar una solicitud de oposición al uso publicitario. Los derechos no significan borrar siempre y de inmediato cualquier registro: puede haber obligaciones de conservación y otras razones legales que la entidad debe explicar. Lo importante es que existe un mecanismo para pedir y recibir una respuesta.</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a:p xmlns:a="http://schemas.openxmlformats.org/drawingml/2006/main">
            <a:r>
              <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3</a:t>
            </a:r>
          </a:p>
          <a:p xmlns:a="http://schemas.openxmlformats.org/drawingml/2006/main">
            <a:r>
              <a:t>TIEMPO: 06:50–07:25</a:t>
            </a:r>
          </a:p>
          <a:p xmlns:a="http://schemas.openxmlformats.org/drawingml/2006/main">
            <a:r>
              <a:t/>
            </a:r>
          </a:p>
          <a:p xmlns:a="http://schemas.openxmlformats.org/drawingml/2006/main">
            <a:r>
              <a:t>PUESTA EN CÁMARA</a:t>
            </a:r>
          </a:p>
          <a:p xmlns:a="http://schemas.openxmlformats.org/drawingml/2006/main">
            <a:r>
              <a:t>Esperar 5 segundos. Revelar oralmente: R, rectificación. Pedir que imaginen otra situación sin solicitar datos personales en comentarios.</a:t>
            </a:r>
          </a:p>
          <a:p xmlns:a="http://schemas.openxmlformats.org/drawingml/2006/main">
            <a:r>
              <a:t/>
            </a:r>
          </a:p>
          <a:p xmlns:a="http://schemas.openxmlformats.org/drawingml/2006/main">
            <a:r>
              <a:t>GUION ORIENTATIVO</a:t>
            </a:r>
          </a:p>
          <a:p xmlns:a="http://schemas.openxmlformats.org/drawingml/2006/main">
            <a:r>
              <a:t>Probemos con una situación diferente. Una empresa registró un correo electrónico que no es tuyo y envía allí información de tu cuenta. ¿Qué letra elegirías: A, R, C u O? Tienes cinco segundos. [Pausa.] La respuesta principal es R, rectificación, porque buscamos corregir un dato incorrecto. También podemos pedir que se investigue qué ocurrió con los envíos. Recuerda la diferencia: conocer lo que guardan es acceso, corregir es rectificación. Ahora piensa en una situación tuya, pero no escribas tu correo, DNI o teléfono en los comentarios del video.</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a:p xmlns:a="http://schemas.openxmlformats.org/drawingml/2006/main">
            <a:r>
              <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3</a:t>
            </a:r>
          </a:p>
          <a:p xmlns:a="http://schemas.openxmlformats.org/drawingml/2006/main">
            <a:r>
              <a:t>TIEMPO: 07:25–08:15</a:t>
            </a:r>
          </a:p>
          <a:p xmlns:a="http://schemas.openxmlformats.org/drawingml/2006/main">
            <a:r>
              <a:t/>
            </a:r>
          </a:p>
          <a:p xmlns:a="http://schemas.openxmlformats.org/drawingml/2006/main">
            <a:r>
              <a:t>PUESTA EN CÁMARA</a:t>
            </a:r>
          </a:p>
          <a:p xmlns:a="http://schemas.openxmlformats.org/drawingml/2006/main">
            <a:r>
              <a:t>Seguir el diagrama. Explicar que la tutela procede ante falta de respuesta o denegación. Mencionar la nota sobre ampliaciones sin leerla completa.</a:t>
            </a:r>
          </a:p>
          <a:p xmlns:a="http://schemas.openxmlformats.org/drawingml/2006/main">
            <a:r>
              <a:t/>
            </a:r>
          </a:p>
          <a:p xmlns:a="http://schemas.openxmlformats.org/drawingml/2006/main">
            <a:r>
              <a:t>GUION ORIENTATIVO</a:t>
            </a:r>
          </a:p>
          <a:p xmlns:a="http://schemas.openxmlformats.org/drawingml/2006/main">
            <a:r>
              <a:t>Primero presenta tu solicitud a quien trata los datos, por el canal oficial, acredita tu identidad según corresponda y conserva el cargo o constancia. Los plazos generales de respuesta son veinte días hábiles para acceso y diez para rectificación, cancelación u oposición. Se cuentan desde el día siguiente a la presentación. El reglamento admite supuestos de ampliación o suspensión, por ejemplo si falta documentación necesaria, y establece sus condiciones. Si no te responden en el plazo aplicable o deniegan tu pedido, puedes solicitar tutela ante la Autoridad Nacional de Protección de Datos Personales. Este procedimiento protege el ejercicio del derecho. Una denuncia por una infracción es una vía distinta.</a:t>
            </a:r>
          </a:p>
          <a:p xmlns:a="http://schemas.openxmlformats.org/drawingml/2006/main">
            <a:r>
              <a:t/>
            </a:r>
          </a:p>
          <a:p xmlns:a="http://schemas.openxmlformats.org/drawingml/2006/main">
            <a:r>
              <a:t>FUENTES</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a:p xmlns:a="http://schemas.openxmlformats.org/drawingml/2006/main">
            <a:r>
              <a:t/>
            </a:r>
          </a:p>
          <a:p xmlns:a="http://schemas.openxmlformats.org/drawingml/2006/main">
            <a:r>
              <a:t>ANPD: ejercicio de derechos ARCO</a:t>
            </a:r>
          </a:p>
          <a:p xmlns:a="http://schemas.openxmlformats.org/drawingml/2006/main">
            <a:r>
              <a:t>https://www.gob.pe/9269</a:t>
            </a:r>
          </a:p>
          <a:p xmlns:a="http://schemas.openxmlformats.org/drawingml/2006/main">
            <a:r>
              <a:t>Solicitar primero a la entidad. Tutela ante ausencia de respuesta o denegación. Acceso: 20 días hábiles. Rectificación, cancelación y oposición: 10 días hábiles.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3</a:t>
            </a:r>
          </a:p>
          <a:p xmlns:a="http://schemas.openxmlformats.org/drawingml/2006/main">
            <a:r>
              <a:t>TIEMPO: 08:15–09:00</a:t>
            </a:r>
          </a:p>
          <a:p xmlns:a="http://schemas.openxmlformats.org/drawingml/2006/main">
            <a:r>
              <a:t/>
            </a:r>
          </a:p>
          <a:p xmlns:a="http://schemas.openxmlformats.org/drawingml/2006/main">
            <a:r>
              <a:t>PUESTA EN CÁMARA</a:t>
            </a:r>
          </a:p>
          <a:p xmlns:a="http://schemas.openxmlformats.org/drawingml/2006/main">
            <a:r>
              <a:t>Mostrar un borrador ficticio. Explicar sus componentes y pasar el turno al integrante 4.</a:t>
            </a:r>
          </a:p>
          <a:p xmlns:a="http://schemas.openxmlformats.org/drawingml/2006/main">
            <a:r>
              <a:t/>
            </a:r>
          </a:p>
          <a:p xmlns:a="http://schemas.openxmlformats.org/drawingml/2006/main">
            <a:r>
              <a:t>GUION ORIENTATIVO</a:t>
            </a:r>
          </a:p>
          <a:p xmlns:a="http://schemas.openxmlformats.org/drawingml/2006/main">
            <a:r>
              <a:t>Alex puede empezar con un pedido sencillo: solicito conocer el origen y el uso de mi número de celular, las finalidades del tratamiento y las transferencias realizadas. Debe identificar claramente lo que solicita, señalar dónde recibir la respuesta y acreditar su identidad de la forma que exija el procedimiento. Si busca detener la publicidad, corresponde expresar además el pedido específico que proceda, como revocación del consentimiento u oposición, según el caso. Usar el canal oficial ayuda a dejar evidencia. No enviamos documentos a números desconocidos ni publicamos el pedido con datos personales en redes. Ahora miremos la responsabilidad de la organización que recibió la información.</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a:p xmlns:a="http://schemas.openxmlformats.org/drawingml/2006/main">
            <a:r>
              <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a:p xmlns:a="http://schemas.openxmlformats.org/drawingml/2006/main">
            <a:r>
              <a:t/>
            </a:r>
          </a:p>
          <a:p xmlns:a="http://schemas.openxmlformats.org/drawingml/2006/main">
            <a:r>
              <a:t>ANPD: ejercicio de derechos ARCO</a:t>
            </a:r>
          </a:p>
          <a:p xmlns:a="http://schemas.openxmlformats.org/drawingml/2006/main">
            <a:r>
              <a:t>https://www.gob.pe/9269</a:t>
            </a:r>
          </a:p>
          <a:p xmlns:a="http://schemas.openxmlformats.org/drawingml/2006/main">
            <a:r>
              <a:t>Solicitar primero a la entidad. Tutela ante ausencia de respuesta o denegación. Acceso: 20 días hábiles. Rectificación, cancelación y oposición: 10 días hábiles.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4</a:t>
            </a:r>
          </a:p>
          <a:p xmlns:a="http://schemas.openxmlformats.org/drawingml/2006/main">
            <a:r>
              <a:t>TIEMPO: 09:00–09:45</a:t>
            </a:r>
          </a:p>
          <a:p xmlns:a="http://schemas.openxmlformats.org/drawingml/2006/main">
            <a:r>
              <a:t/>
            </a:r>
          </a:p>
          <a:p xmlns:a="http://schemas.openxmlformats.org/drawingml/2006/main">
            <a:r>
              <a:t>PUESTA EN CÁMARA</a:t>
            </a:r>
          </a:p>
          <a:p xmlns:a="http://schemas.openxmlformats.org/drawingml/2006/main">
            <a:r>
              <a:t>Explicar el papel del responsable y del proveedor encargado con el ejemplo de la feria. Evitar leer las cuatro filas.</a:t>
            </a:r>
          </a:p>
          <a:p xmlns:a="http://schemas.openxmlformats.org/drawingml/2006/main">
            <a:r>
              <a:t/>
            </a:r>
          </a:p>
          <a:p xmlns:a="http://schemas.openxmlformats.org/drawingml/2006/main">
            <a:r>
              <a:t>GUION ORIENTATIVO</a:t>
            </a:r>
          </a:p>
          <a:p xmlns:a="http://schemas.openxmlformats.org/drawingml/2006/main">
            <a:r>
              <a:t>La organización tiene obligaciones desde que decide recoger la información. Debe informar con claridad, usar una base válida, limitar el acceso y atender las solicitudes de derechos. También debe inscribir los bancos de datos cuando corresponde y cumplir las demás obligaciones aplicables. Si contrata a un proveedor para gestionar el formulario, ese proveedor no recibe libertad para usar los datos por su cuenta. Sus instrucciones y responsabilidades deben quedar definidas. En nuestro sorteo, no basta con decir que el archivo está en la nube. Hay que saber quién tiene acceso, qué finalidad se permite y cuánto tiempo resulta necesario conservar la información.</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a:p xmlns:a="http://schemas.openxmlformats.org/drawingml/2006/main">
            <a:r>
              <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4</a:t>
            </a:r>
          </a:p>
          <a:p xmlns:a="http://schemas.openxmlformats.org/drawingml/2006/main">
            <a:r>
              <a:t>TIEMPO: 09:45–10:30</a:t>
            </a:r>
          </a:p>
          <a:p xmlns:a="http://schemas.openxmlformats.org/drawingml/2006/main">
            <a:r>
              <a:t/>
            </a:r>
          </a:p>
          <a:p xmlns:a="http://schemas.openxmlformats.org/drawingml/2006/main">
            <a:r>
              <a:t>PUESTA EN CÁMARA</a:t>
            </a:r>
          </a:p>
          <a:p xmlns:a="http://schemas.openxmlformats.org/drawingml/2006/main">
            <a:r>
              <a:t>Explicar las novedades sin convertirlas en obligaciones universales. Dedicar un ejemplo breve a portabilidad.</a:t>
            </a:r>
          </a:p>
          <a:p xmlns:a="http://schemas.openxmlformats.org/drawingml/2006/main">
            <a:r>
              <a:t/>
            </a:r>
          </a:p>
          <a:p xmlns:a="http://schemas.openxmlformats.org/drawingml/2006/main">
            <a:r>
              <a:t>GUION ORIENTATIVO</a:t>
            </a:r>
          </a:p>
          <a:p xmlns:a="http://schemas.openxmlformats.org/drawingml/2006/main">
            <a:r>
              <a:t>El reglamento vigente incorpora novedades importantes. Establece reglas para notificar incidentes de seguridad. Regula la designación del Oficial de Datos Personales, que orienta y supervisa el cumplimiento cuando corresponde. Esa designación tiene supuestos específicos y una aplicación progresiva para determinados responsables, así que no debemos afirmar que todos necesitan uno desde la misma fecha. También desarrolla la portabilidad: bajo sus condiciones, permite recibir determinados datos en un formato estructurado y transmitirlos a otro responsable. No es lo mismo que acceso ni se aplica automáticamente a toda información. Para la ciudadanía, estas medidas buscan que el tratamiento sea más controlable y que existan responsabilidades claras.</a:t>
            </a:r>
          </a:p>
          <a:p xmlns:a="http://schemas.openxmlformats.org/drawingml/2006/main">
            <a:r>
              <a:t/>
            </a:r>
          </a:p>
          <a:p xmlns:a="http://schemas.openxmlformats.org/drawingml/2006/main">
            <a:r>
              <a:t>FUENTES</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4</a:t>
            </a:r>
          </a:p>
          <a:p xmlns:a="http://schemas.openxmlformats.org/drawingml/2006/main">
            <a:r>
              <a:t>TIEMPO: 10:30–11:15</a:t>
            </a:r>
          </a:p>
          <a:p xmlns:a="http://schemas.openxmlformats.org/drawingml/2006/main">
            <a:r>
              <a:t/>
            </a:r>
          </a:p>
          <a:p xmlns:a="http://schemas.openxmlformats.org/drawingml/2006/main">
            <a:r>
              <a:t>PUESTA EN CÁMARA</a:t>
            </a:r>
          </a:p>
          <a:p xmlns:a="http://schemas.openxmlformats.org/drawingml/2006/main">
            <a:r>
              <a:t>Aclarar que el plazo obliga al responsable en los supuestos del artículo 34.1. No presentarlo como plazo de denuncia del ciudadano.</a:t>
            </a:r>
          </a:p>
          <a:p xmlns:a="http://schemas.openxmlformats.org/drawingml/2006/main">
            <a:r>
              <a:t/>
            </a:r>
          </a:p>
          <a:p xmlns:a="http://schemas.openxmlformats.org/drawingml/2006/main">
            <a:r>
              <a:t>GUION ORIENTATIVO</a:t>
            </a:r>
          </a:p>
          <a:p xmlns:a="http://schemas.openxmlformats.org/drawingml/2006/main">
            <a:r>
              <a:t>Si un incidente expone grandes volúmenes de datos, puede afectar a muchas personas, involucra datos sensibles o produce un perjuicio evidente a otros derechos o libertades, el responsable debe notificar a la ANPD como máximo dentro de las cuarenta y ocho horas de conocerlo. Es una obligación del responsable, no un plazo de cuarenta y ocho horas para que la víctima denuncie. Además, debe documentar cualquier incidente. La comunicación a las personas afectadas tiene sus propias condiciones, y si ocurre en el entorno digital también corresponde la notificación al Centro Nacional de Seguridad Digital según el reglamento. Resolver el problema internamente no elimina por sí solo la obligación de informar a la autoridad.</a:t>
            </a:r>
          </a:p>
          <a:p xmlns:a="http://schemas.openxmlformats.org/drawingml/2006/main">
            <a:r>
              <a:t/>
            </a:r>
          </a:p>
          <a:p xmlns:a="http://schemas.openxmlformats.org/drawingml/2006/main">
            <a:r>
              <a:t>FUENTES</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4</a:t>
            </a:r>
          </a:p>
          <a:p xmlns:a="http://schemas.openxmlformats.org/drawingml/2006/main">
            <a:r>
              <a:t>TIEMPO: 11:15–12:00</a:t>
            </a:r>
          </a:p>
          <a:p xmlns:a="http://schemas.openxmlformats.org/drawingml/2006/main">
            <a:r>
              <a:t/>
            </a:r>
          </a:p>
          <a:p xmlns:a="http://schemas.openxmlformats.org/drawingml/2006/main">
            <a:r>
              <a:t>PUESTA EN CÁMARA</a:t>
            </a:r>
          </a:p>
          <a:p xmlns:a="http://schemas.openxmlformats.org/drawingml/2006/main">
            <a:r>
              <a:t>Hacer de auditor del caso. Señalar que las preguntas son ejemplos de revisión, sin inventar una conclusión o multa.</a:t>
            </a:r>
          </a:p>
          <a:p xmlns:a="http://schemas.openxmlformats.org/drawingml/2006/main">
            <a:r>
              <a:t/>
            </a:r>
          </a:p>
          <a:p xmlns:a="http://schemas.openxmlformats.org/drawingml/2006/main">
            <a:r>
              <a:t>GUION ORIENTATIVO</a:t>
            </a:r>
          </a:p>
          <a:p xmlns:a="http://schemas.openxmlformats.org/drawingml/2006/main">
            <a:r>
              <a:t>Desde auditoría de sistemas, podemos revisar tres evidencias del sorteo: el formulario que vio Alex, los permisos del archivo y el registro de autorización que la organización conserva. Si el archivo es público, cualquiera podría descargarlo. Si el consentimiento no tiene fecha ni finalidad identificable, demostrarlo será difícil. Y si el aviso mezcla usos sin claridad, corresponde revisar ese tratamiento. La ANPD puede fiscalizar y sancionar infracciones, pero una sanción concreta requiere un procedimiento y evidencia. El caso de Alex no es una noticia real ni estamos atribuyendo una infracción a una empresa. La idea es aprender qué preguntas ayudan a prevenir una mala práctica antes de que afecte a alguien.</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a:p xmlns:a="http://schemas.openxmlformats.org/drawingml/2006/main">
            <a:r>
              <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5</a:t>
            </a:r>
          </a:p>
          <a:p xmlns:a="http://schemas.openxmlformats.org/drawingml/2006/main">
            <a:r>
              <a:t>TIEMPO: 12:00–12:45</a:t>
            </a:r>
          </a:p>
          <a:p xmlns:a="http://schemas.openxmlformats.org/drawingml/2006/main">
            <a:r>
              <a:t/>
            </a:r>
          </a:p>
          <a:p xmlns:a="http://schemas.openxmlformats.org/drawingml/2006/main">
            <a:r>
              <a:t>PUESTA EN CÁMARA</a:t>
            </a:r>
          </a:p>
          <a:p xmlns:a="http://schemas.openxmlformats.org/drawingml/2006/main">
            <a:r>
              <a:t>Aparecer en cámara con una pregunta: ¿nos gustaría que publicaran esto sin avisarnos? Usar la ilustración para conectar con su propia grabación.</a:t>
            </a:r>
          </a:p>
          <a:p xmlns:a="http://schemas.openxmlformats.org/drawingml/2006/main">
            <a:r>
              <a:t/>
            </a:r>
          </a:p>
          <a:p xmlns:a="http://schemas.openxmlformats.org/drawingml/2006/main">
            <a:r>
              <a:t>GUION ORIENTATIVO</a:t>
            </a:r>
          </a:p>
          <a:p xmlns:a="http://schemas.openxmlformats.org/drawingml/2006/main">
            <a:r>
              <a:t>La responsabilidad social empieza con lo que hacemos nosotros. La imagen y la voz pueden ser datos personales cuando identifican a alguien. Para este video, acordemos con los participantes la grabación y la difusión: dónde se publicará y con qué finalidad. Si aparece otra persona al fondo, tenemos que revisar si corresponde obtener su autorización o evitar que sea reconocible. También cuidemos lo que entra en el encuadre: listas de estudiantes, pantallas, credenciales o documentos. No hace falta publicar la información de alguien para enseñar a protegerla. Podemos usar nombres ficticios y ejemplos simulados, como lo hemos hecho con Alex.</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a:p xmlns:a="http://schemas.openxmlformats.org/drawingml/2006/main">
            <a:r>
              <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a:p xmlns:a="http://schemas.openxmlformats.org/drawingml/2006/main">
            <a:r>
              <a:t/>
            </a:r>
          </a:p>
          <a:p xmlns:a="http://schemas.openxmlformats.org/drawingml/2006/main">
            <a:r>
              <a:t>VISUAL</a:t>
            </a:r>
          </a:p>
          <a:p xmlns:a="http://schemas.openxmlformats.org/drawingml/2006/main">
            <a:r>
              <a:t>Ilustración conceptual generada con ImageGen. No representa un suceso ni personas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5</a:t>
            </a:r>
          </a:p>
          <a:p xmlns:a="http://schemas.openxmlformats.org/drawingml/2006/main">
            <a:r>
              <a:t>TIEMPO: 12:45–13:25</a:t>
            </a:r>
          </a:p>
          <a:p xmlns:a="http://schemas.openxmlformats.org/drawingml/2006/main">
            <a:r>
              <a:t/>
            </a:r>
          </a:p>
          <a:p xmlns:a="http://schemas.openxmlformats.org/drawingml/2006/main">
            <a:r>
              <a:t>PUESTA EN CÁMARA</a:t>
            </a:r>
          </a:p>
          <a:p xmlns:a="http://schemas.openxmlformats.org/drawingml/2006/main">
            <a:r>
              <a:t>Demostrar una captura ficticia cubierta, sin abrir cuentas personales. Relacionar cada hábito con una situación cotidiana.</a:t>
            </a:r>
          </a:p>
          <a:p xmlns:a="http://schemas.openxmlformats.org/drawingml/2006/main">
            <a:r>
              <a:t/>
            </a:r>
          </a:p>
          <a:p xmlns:a="http://schemas.openxmlformats.org/drawingml/2006/main">
            <a:r>
              <a:t>GUION ORIENTATIVO</a:t>
            </a:r>
          </a:p>
          <a:p xmlns:a="http://schemas.openxmlformats.org/drawingml/2006/main">
            <a:r>
              <a:t>Antes de llenar un formulario, revisa quién solicita los datos y para qué. Si te piden información que no parece necesaria, busca una explicación. Antes de enviar un documento, verifica el canal oficial. Para compartir una captura, oculta nombres, números y otros datos de terceros que no aportan al mensaje. Activar la verificación en dos pasos también ayuda a proteger tus cuentas. Estas son recomendaciones prácticas para reducir riesgos, no garantías de que nunca ocurrirá un incidente. Y no trasladan toda la responsabilidad al ciudadano: la entidad que trata datos debe cumplir la ley aunque una persona no conozca todos estos cuidados.</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a:p xmlns:a="http://schemas.openxmlformats.org/drawingml/2006/main">
            <a:r>
              <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5</a:t>
            </a:r>
          </a:p>
          <a:p xmlns:a="http://schemas.openxmlformats.org/drawingml/2006/main">
            <a:r>
              <a:t>TIEMPO: 13:25–14:10</a:t>
            </a:r>
          </a:p>
          <a:p xmlns:a="http://schemas.openxmlformats.org/drawingml/2006/main">
            <a:r>
              <a:t/>
            </a:r>
          </a:p>
          <a:p xmlns:a="http://schemas.openxmlformats.org/drawingml/2006/main">
            <a:r>
              <a:t>PUESTA EN CÁMARA</a:t>
            </a:r>
          </a:p>
          <a:p xmlns:a="http://schemas.openxmlformats.org/drawingml/2006/main">
            <a:r>
              <a:t>Dejar 6 segundos para responder. No decir las soluciones hasta cambiar al slide 20. Animar a responder F/V/V sin compartir datos.</a:t>
            </a:r>
          </a:p>
          <a:p xmlns:a="http://schemas.openxmlformats.org/drawingml/2006/main">
            <a:r>
              <a:t/>
            </a:r>
          </a:p>
          <a:p xmlns:a="http://schemas.openxmlformats.org/drawingml/2006/main">
            <a:r>
              <a:t>GUION ORIENTATIVO</a:t>
            </a:r>
          </a:p>
          <a:p xmlns:a="http://schemas.openxmlformats.org/drawingml/2006/main">
            <a:r>
              <a:t>Vamos con el reto final. Primera afirmación: participar en un sorteo autoriza cualquier uso de tus datos. Segunda: puedes pedir que corrijan un dato incorrecto. Tercera: una foto identificable puede ser un dato personal. Responde verdadero o falso para cada una. Puedes decirlo en voz alta o escribir solo tus tres respuestas, sin información privada. Tómate seis segundos. [Pausa.] Antes de revelar el resultado, recuerda a Alex: entregó su celular para participar, pero necesita saber qué autorizó y cómo se usó después. Esa diferencia entre entregar un dato y permitir un uso es parte de lo que queremos que te lleves de este video.</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a:p xmlns:a="http://schemas.openxmlformats.org/drawingml/2006/main">
            <a:r>
              <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5</a:t>
            </a:r>
          </a:p>
          <a:p xmlns:a="http://schemas.openxmlformats.org/drawingml/2006/main">
            <a:r>
              <a:t>TIEMPO: 14:10–14:50</a:t>
            </a:r>
          </a:p>
          <a:p xmlns:a="http://schemas.openxmlformats.org/drawingml/2006/main">
            <a:r>
              <a:t/>
            </a:r>
          </a:p>
          <a:p xmlns:a="http://schemas.openxmlformats.org/drawingml/2006/main">
            <a:r>
              <a:t>PUESTA EN CÁMARA</a:t>
            </a:r>
          </a:p>
          <a:p xmlns:a="http://schemas.openxmlformats.org/drawingml/2006/main">
            <a:r>
              <a:t>Revelar F/V/V. Dar una acción concreta. Opcional: montaje muy breve de los cinco rostros sin añadir intervenciones largas.</a:t>
            </a:r>
          </a:p>
          <a:p xmlns:a="http://schemas.openxmlformats.org/drawingml/2006/main">
            <a:r>
              <a:t/>
            </a:r>
          </a:p>
          <a:p xmlns:a="http://schemas.openxmlformats.org/drawingml/2006/main">
            <a:r>
              <a:t>GUION ORIENTATIVO</a:t>
            </a:r>
          </a:p>
          <a:p xmlns:a="http://schemas.openxmlformats.org/drawingml/2006/main">
            <a:r>
              <a:t>Las respuestas son falso, verdadero y verdadero. La participación en un sorteo no autoriza cualquier uso, puedes solicitar rectificación y una foto identificable puede ser un dato personal. Tu próximo paso puede ser revisar un permiso de una aplicación o el aviso de un formulario que utilizas. Si algo no está claro, busca el canal oficial y pregunta. Para ayudar a otras personas, comparte este video o explícale a alguien de tu familia qué son los derechos ARCO. Cuidar datos también es respetar la decisión y la privacidad de quienes nos rodean. Gracias por acompañarnos.</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a:p xmlns:a="http://schemas.openxmlformats.org/drawingml/2006/main">
            <a:r>
              <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5</a:t>
            </a:r>
          </a:p>
          <a:p xmlns:a="http://schemas.openxmlformats.org/drawingml/2006/main">
            <a:r>
              <a:t>TIEMPO: 14:50–15:00</a:t>
            </a:r>
          </a:p>
          <a:p xmlns:a="http://schemas.openxmlformats.org/drawingml/2006/main">
            <a:r>
              <a:t/>
            </a:r>
          </a:p>
          <a:p xmlns:a="http://schemas.openxmlformats.org/drawingml/2006/main">
            <a:r>
              <a:t>PUESTA EN CÁMARA</a:t>
            </a:r>
          </a:p>
          <a:p xmlns:a="http://schemas.openxmlformats.org/drawingml/2006/main">
            <a:r>
              <a:t>Dejar las fuentes visibles 10 segundos. Mantener la última frase breve. Colocar los enlaces completos también en la descripción del video.</a:t>
            </a:r>
          </a:p>
          <a:p xmlns:a="http://schemas.openxmlformats.org/drawingml/2006/main">
            <a:r>
              <a:t/>
            </a:r>
          </a:p>
          <a:p xmlns:a="http://schemas.openxmlformats.org/drawingml/2006/main">
            <a:r>
              <a:t>GUION ORIENTATIVO</a:t>
            </a:r>
          </a:p>
          <a:p xmlns:a="http://schemas.openxmlformats.org/drawingml/2006/main">
            <a:r>
              <a:t>Las fuentes oficiales están aquí y en la descripción del video. Puedes consultar la ley, el reglamento y la ruta de derechos ARCO.</a:t>
            </a:r>
          </a:p>
          <a:p xmlns:a="http://schemas.openxmlformats.org/drawingml/2006/main">
            <a:r>
              <a:t/>
            </a:r>
          </a:p>
          <a:p xmlns:a="http://schemas.openxmlformats.org/drawingml/2006/main">
            <a:r>
              <a:t>FUENTES</a:t>
            </a:r>
          </a:p>
          <a:p xmlns:a="http://schemas.openxmlformats.org/drawingml/2006/main">
            <a:r>
              <a:t>Ley N.º 29733</a:t>
            </a:r>
          </a:p>
          <a:p xmlns:a="http://schemas.openxmlformats.org/drawingml/2006/main">
            <a:r>
              <a:t>https://www.gob.pe/institucion/congreso-de-la-republica/normas-legales/243470</a:t>
            </a:r>
          </a:p>
          <a:p xmlns:a="http://schemas.openxmlformats.org/drawingml/2006/main">
            <a:r>
              <a:t>Texto publicado por el Congreso. Para las modificatorias y el texto vigente se contrastó el Compendio oficial MINJUSDH, diciembre 2025, disponible en la fuente del reglamento. Ley 29733: arts. 1, 2, 4–12, 13–14, 18–26 y 28.</a:t>
            </a:r>
          </a:p>
          <a:p xmlns:a="http://schemas.openxmlformats.org/drawingml/2006/main">
            <a:r>
              <a:t/>
            </a:r>
          </a:p>
          <a:p xmlns:a="http://schemas.openxmlformats.org/drawingml/2006/main">
            <a:r>
              <a:t>D. S. N.º 016-2024-JUS</a:t>
            </a:r>
          </a:p>
          <a:p xmlns:a="http://schemas.openxmlformats.org/drawingml/2006/main">
            <a:r>
              <a:t>https://cdn.www.gob.pe/uploads/document/file/9231033/7575393-compendio_proteccion_datos_personales.pdf</a:t>
            </a:r>
          </a:p>
          <a:p xmlns:a="http://schemas.openxmlformats.org/drawingml/2006/main">
            <a:r>
              <a:t>Compendio oficial MINJUSDH, diciembre 2025: reglamento vigente, arts. 2–7 (consentimiento), 34–36 (incidentes), 37–39 (oficial), 42 (inscripción), 67–71 (derechos y plazos), 76 (portabilidad), primera disposición complementaria final (aplicación progresiva).</a:t>
            </a:r>
          </a:p>
          <a:p xmlns:a="http://schemas.openxmlformats.org/drawingml/2006/main">
            <a:r>
              <a:t/>
            </a:r>
          </a:p>
          <a:p xmlns:a="http://schemas.openxmlformats.org/drawingml/2006/main">
            <a:r>
              <a:t>ANPD: ejercicio de derechos ARCO</a:t>
            </a:r>
          </a:p>
          <a:p xmlns:a="http://schemas.openxmlformats.org/drawingml/2006/main">
            <a:r>
              <a:t>https://www.gob.pe/9269</a:t>
            </a:r>
          </a:p>
          <a:p xmlns:a="http://schemas.openxmlformats.org/drawingml/2006/main">
            <a:r>
              <a:t>Solicitar primero a la entidad. Tutela ante ausencia de respuesta o denegación. Acceso: 20 días hábiles. Rectificación, cancelación y oposición: 10 días hábiles.</a:t>
            </a:r>
          </a:p>
          <a:p xmlns:a="http://schemas.openxmlformats.org/drawingml/2006/main">
            <a:r>
              <a:t/>
            </a:r>
          </a:p>
          <a:p xmlns:a="http://schemas.openxmlformats.org/drawingml/2006/main">
            <a:r>
              <a:t>ANPD: balance de gestión 2018–2025</a:t>
            </a:r>
          </a:p>
          <a:p xmlns:a="http://schemas.openxmlformats.org/drawingml/2006/main">
            <a:r>
              <a:t>https://cdn.www.gob.pe/uploads/document/file/9351482/7666109-balance-de-gestion-2018-2025-autoridad-nacional-de-proteccion-de-datos-personales-anpd%282%29.pdf?v=1771361609</a:t>
            </a:r>
          </a:p>
          <a:p xmlns:a="http://schemas.openxmlformats.org/drawingml/2006/main">
            <a:r>
              <a:t>La ANPD confirma la entrada en vigencia del nuevo reglamento el 31 de marzo de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ff9db2bb4948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77a6ea37a24b77" /><Relationship Type="http://schemas.openxmlformats.org/officeDocument/2006/relationships/slideLayout" Target="/ppt/slideLayouts/slideLayout1.xml" Id="Re61fcc8421be46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1fcc8421be46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ced5fa008445b8" /><Relationship Type="http://schemas.openxmlformats.org/officeDocument/2006/relationships/image" Target="/ppt/media/image.png" Id="Rb4246841e657494e" /><Relationship Type="http://schemas.openxmlformats.org/officeDocument/2006/relationships/notesSlide" Target="/ppt/notesSlides/notesSlide1.xml" Id="Re55b0df54f5945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9f1d5046a944958" /><Relationship Type="http://schemas.openxmlformats.org/officeDocument/2006/relationships/notesSlide" Target="/ppt/notesSlides/notesSlide2.xml" Id="R5c1d7c63eb1d4f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4d0fefbeba46ad" /><Relationship Type="http://schemas.openxmlformats.org/officeDocument/2006/relationships/notesSlide" Target="/ppt/notesSlides/notesSlide3.xml" Id="Rc3d698ecb27b4a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a60ba189504eb0" /><Relationship Type="http://schemas.openxmlformats.org/officeDocument/2006/relationships/notesSlide" Target="/ppt/notesSlides/notesSlide4.xml" Id="Re113d06c988041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df363907b134d9d" /><Relationship Type="http://schemas.openxmlformats.org/officeDocument/2006/relationships/notesSlide" Target="/ppt/notesSlides/notesSlide5.xml" Id="R4fe1ca72bea84e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49484d725c4e7e" /><Relationship Type="http://schemas.openxmlformats.org/officeDocument/2006/relationships/notesSlide" Target="/ppt/notesSlides/notesSlide6.xml" Id="R35dde790e0404f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51c145974f4bf6" /><Relationship Type="http://schemas.openxmlformats.org/officeDocument/2006/relationships/notesSlide" Target="/ppt/notesSlides/notesSlide7.xml" Id="R25ebc2bc508c4e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92bc920a424854" /><Relationship Type="http://schemas.openxmlformats.org/officeDocument/2006/relationships/notesSlide" Target="/ppt/notesSlides/notesSlide8.xml" Id="R6bc099a25b4740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d448b4bc1f3414f" /><Relationship Type="http://schemas.openxmlformats.org/officeDocument/2006/relationships/notesSlide" Target="/ppt/notesSlides/notesSlide9.xml" Id="R92876709df8049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271bd573a8346d6" /><Relationship Type="http://schemas.openxmlformats.org/officeDocument/2006/relationships/notesSlide" Target="/ppt/notesSlides/notesSlide10.xml" Id="R06d1f952e07046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add3ece50bd48f4" /><Relationship Type="http://schemas.openxmlformats.org/officeDocument/2006/relationships/notesSlide" Target="/ppt/notesSlides/notesSlide11.xml" Id="R060fa1e2833547d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ae61dac9b604fe1" /><Relationship Type="http://schemas.openxmlformats.org/officeDocument/2006/relationships/notesSlide" Target="/ppt/notesSlides/notesSlide12.xml" Id="Rb6b64090c9a14d5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0462a0c81d94cfb" /><Relationship Type="http://schemas.openxmlformats.org/officeDocument/2006/relationships/notesSlide" Target="/ppt/notesSlides/notesSlide13.xml" Id="Rf25a5226e6d34a8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b10054c4122480f" /><Relationship Type="http://schemas.openxmlformats.org/officeDocument/2006/relationships/notesSlide" Target="/ppt/notesSlides/notesSlide14.xml" Id="R41f0e60993944dd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ad849add44345a8" /><Relationship Type="http://schemas.openxmlformats.org/officeDocument/2006/relationships/notesSlide" Target="/ppt/notesSlides/notesSlide15.xml" Id="R572a62c68abc4ba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2467d6c09b144e3" /><Relationship Type="http://schemas.openxmlformats.org/officeDocument/2006/relationships/notesSlide" Target="/ppt/notesSlides/notesSlide16.xml" Id="R06d67ae39d6740a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d3c80311c1443ad" /><Relationship Type="http://schemas.openxmlformats.org/officeDocument/2006/relationships/image" Target="/ppt/media/image2.png" Id="R216d434010b043c8" /><Relationship Type="http://schemas.openxmlformats.org/officeDocument/2006/relationships/notesSlide" Target="/ppt/notesSlides/notesSlide17.xml" Id="R171ab7e49b1a42e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c68cf2286f14840" /><Relationship Type="http://schemas.openxmlformats.org/officeDocument/2006/relationships/notesSlide" Target="/ppt/notesSlides/notesSlide18.xml" Id="R77b59ce71059483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838a5e712b64649" /><Relationship Type="http://schemas.openxmlformats.org/officeDocument/2006/relationships/notesSlide" Target="/ppt/notesSlides/notesSlide19.xml" Id="R2afae1ce2ce74c0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0f0589db2ee4513" /><Relationship Type="http://schemas.openxmlformats.org/officeDocument/2006/relationships/notesSlide" Target="/ppt/notesSlides/notesSlide20.xml" Id="R413c98cfa7cc4d7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5163e8064d14666" /><Relationship Type="http://schemas.openxmlformats.org/officeDocument/2006/relationships/hyperlink" Target="https://www.gob.pe/institucion/congreso-de-la-republica/normas-legales/243470" TargetMode="External" Id="Rbc24363cad4a4078" /><Relationship Type="http://schemas.openxmlformats.org/officeDocument/2006/relationships/hyperlink" Target="https://cdn.www.gob.pe/uploads/document/file/9231033/7575393-compendio_proteccion_datos_personales.pdf" TargetMode="External" Id="R6b7c1b9aadcd40a1" /><Relationship Type="http://schemas.openxmlformats.org/officeDocument/2006/relationships/hyperlink" Target="https://www.gob.pe/9269" TargetMode="External" Id="R81e3b352d30b4903" /><Relationship Type="http://schemas.openxmlformats.org/officeDocument/2006/relationships/hyperlink" Target="https://cdn.www.gob.pe/uploads/document/file/9351482/7666109-balance-de-gestion-2018-2025-autoridad-nacional-de-proteccion-de-datos-personales-anpd%282%29.pdf?v=1771361609" TargetMode="External" Id="Rd3622821466a4f93" /><Relationship Type="http://schemas.openxmlformats.org/officeDocument/2006/relationships/notesSlide" Target="/ppt/notesSlides/notesSlide21.xml" Id="R38cc169569b3464e" /></Relationships>
</file>

<file path=ppt/slides/slide1.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5" name="texto">
            <a:extLst xmlns:a="http://schemas.openxmlformats.org/drawingml/2006/main">
              <a:ext uri="{FF2B5EF4-FFF2-40B4-BE49-F238E27FC236}">
                <a16:creationId xmlns:a16="http://schemas.microsoft.com/office/drawing/2014/main" id="{24FF8046-77D4-4BF5-806D-640535AC2083}"/>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B4C1D4"/>
                </a:solidFill>
                <a:latin typeface="Helvetica Neue"/>
                <a:ea typeface="Helvetica Neue"/>
                <a:cs typeface="Helvetica Neue"/>
              </a:defRPr>
            </a:pPr>
            <a:r>
              <a:rPr sz="1650" b="0">
                <a:solidFill>
                  <a:srgbClr val="B4C1D4"/>
                </a:solidFill>
                <a:latin typeface="Helvetica Neue"/>
                <a:ea typeface="Helvetica Neue"/>
                <a:cs typeface="Helvetica Neue"/>
              </a:rPr>
              <a:t>1</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4246841e657494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exto">
            <a:extLst xmlns:a="http://schemas.openxmlformats.org/drawingml/2006/main">
              <a:ext uri="{FF2B5EF4-FFF2-40B4-BE49-F238E27FC236}">
                <a16:creationId xmlns:a16="http://schemas.microsoft.com/office/drawing/2014/main" id="{BE26A98B-F4C9-4923-9A88-083DC0D89538}"/>
              </a:ext>
            </a:extLst>
          </p:cNvPr>
          <p:cNvSpPr>
            <a:spLocks xmlns:a="http://schemas.openxmlformats.org/drawingml/2006/main" noGrp="1"/>
          </p:cNvSpPr>
          <p:nvPr/>
        </p:nvSpPr>
        <p:spPr>
          <a:xfrm xmlns:a="http://schemas.openxmlformats.org/drawingml/2006/main">
            <a:off x="685800" y="1381125"/>
            <a:ext cx="6191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5F1E8"/>
                </a:solidFill>
                <a:latin typeface="Helvetica Neue"/>
                <a:ea typeface="Helvetica Neue"/>
                <a:cs typeface="Helvetica Neue"/>
              </a:defRPr>
            </a:pPr>
            <a:r>
              <a:rPr sz="5850" b="1">
                <a:solidFill>
                  <a:srgbClr val="F5F1E8"/>
                </a:solidFill>
                <a:latin typeface="Helvetica Neue"/>
                <a:ea typeface="Helvetica Neue"/>
                <a:cs typeface="Helvetica Neue"/>
              </a:rPr>
              <a:t>Tus datos</a:t>
            </a:r>
          </a:p>
          <a:p xmlns:a="http://schemas.openxmlformats.org/drawingml/2006/main">
            <a:pPr algn="l">
              <a:defRPr sz="5850" b="1">
                <a:solidFill>
                  <a:srgbClr val="F5F1E8"/>
                </a:solidFill>
                <a:latin typeface="Helvetica Neue"/>
                <a:ea typeface="Helvetica Neue"/>
                <a:cs typeface="Helvetica Neue"/>
              </a:defRPr>
            </a:pPr>
            <a:r>
              <a:rPr sz="5850" b="1">
                <a:solidFill>
                  <a:srgbClr val="F5F1E8"/>
                </a:solidFill>
                <a:latin typeface="Helvetica Neue"/>
                <a:ea typeface="Helvetica Neue"/>
                <a:cs typeface="Helvetica Neue"/>
              </a:rPr>
              <a:t>personales</a:t>
            </a:r>
          </a:p>
        </p:txBody>
      </p:sp>
      <p:sp>
        <p:nvSpPr>
          <p:cNvPr id="4" name="texto">
            <a:extLst xmlns:a="http://schemas.openxmlformats.org/drawingml/2006/main">
              <a:ext uri="{FF2B5EF4-FFF2-40B4-BE49-F238E27FC236}">
                <a16:creationId xmlns:a16="http://schemas.microsoft.com/office/drawing/2014/main" id="{84612FB2-295B-45DF-A417-C78A2BE84811}"/>
              </a:ext>
            </a:extLst>
          </p:cNvPr>
          <p:cNvSpPr>
            <a:spLocks xmlns:a="http://schemas.openxmlformats.org/drawingml/2006/main" noGrp="1"/>
          </p:cNvSpPr>
          <p:nvPr/>
        </p:nvSpPr>
        <p:spPr>
          <a:xfrm xmlns:a="http://schemas.openxmlformats.org/drawingml/2006/main">
            <a:off x="723900" y="4114800"/>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F5F1E8"/>
                </a:solidFill>
                <a:latin typeface="Helvetica Neue"/>
                <a:ea typeface="Helvetica Neue"/>
                <a:cs typeface="Helvetica Neue"/>
              </a:defRPr>
            </a:pPr>
            <a:r>
              <a:rPr sz="2100" b="0">
                <a:solidFill>
                  <a:srgbClr val="F5F1E8"/>
                </a:solidFill>
                <a:latin typeface="Helvetica Neue"/>
                <a:ea typeface="Helvetica Neue"/>
                <a:cs typeface="Helvetica Neue"/>
              </a:rPr>
              <a:t>Ley N.º 29733 y reglamento vigente</a:t>
            </a:r>
          </a:p>
          <a:p xmlns:a="http://schemas.openxmlformats.org/drawingml/2006/main">
            <a:pPr algn="l">
              <a:defRPr sz="2100" b="0">
                <a:solidFill>
                  <a:srgbClr val="F5F1E8"/>
                </a:solidFill>
                <a:latin typeface="Helvetica Neue"/>
                <a:ea typeface="Helvetica Neue"/>
                <a:cs typeface="Helvetica Neue"/>
              </a:defRPr>
            </a:pPr>
            <a:r>
              <a:rPr sz="2100" b="0">
                <a:solidFill>
                  <a:srgbClr val="F5F1E8"/>
                </a:solidFill>
                <a:latin typeface="Helvetica Neue"/>
                <a:ea typeface="Helvetica Neue"/>
                <a:cs typeface="Helvetica Neue"/>
              </a:rPr>
              <a:t>Responsabilidad social en Perú</a:t>
            </a:r>
          </a:p>
        </p:txBody>
      </p:sp>
    </p:spTree>
    <p:extLst>
      <p:ext uri="{BB962C8B-B14F-4D97-AF65-F5344CB8AC3E}">
        <p14:creationId xmlns:p14="http://schemas.microsoft.com/office/powerpoint/2010/main" val="636843271"/>
      </p:ext>
    </p:extLst>
  </p:cSld>
</p:sld>
</file>

<file path=ppt/slides/slide2.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0" name="texto">
            <a:extLst xmlns:a="http://schemas.openxmlformats.org/drawingml/2006/main">
              <a:ext uri="{FF2B5EF4-FFF2-40B4-BE49-F238E27FC236}">
                <a16:creationId xmlns:a16="http://schemas.microsoft.com/office/drawing/2014/main" id="{1011C6B3-5C1C-4C03-B647-0F9384100F6D}"/>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F5F1E8"/>
                </a:solidFill>
                <a:latin typeface="Helvetica Neue"/>
                <a:ea typeface="Helvetica Neue"/>
                <a:cs typeface="Helvetica Neue"/>
              </a:defRPr>
            </a:pPr>
            <a:r>
              <a:rPr sz="3750" b="1">
                <a:solidFill>
                  <a:srgbClr val="F5F1E8"/>
                </a:solidFill>
                <a:latin typeface="Helvetica Neue"/>
                <a:ea typeface="Helvetica Neue"/>
                <a:cs typeface="Helvetica Neue"/>
              </a:rPr>
              <a:t>¿Qué dato te identifica?</a:t>
            </a:r>
          </a:p>
        </p:txBody>
      </p:sp>
      <p:sp>
        <p:nvSpPr>
          <p:cNvPr id="2" name="texto">
            <a:extLst xmlns:a="http://schemas.openxmlformats.org/drawingml/2006/main">
              <a:ext uri="{FF2B5EF4-FFF2-40B4-BE49-F238E27FC236}">
                <a16:creationId xmlns:a16="http://schemas.microsoft.com/office/drawing/2014/main" id="{D58C48C7-B153-4160-947D-D5DCB9ECA22A}"/>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B4C1D4"/>
                </a:solidFill>
                <a:latin typeface="Helvetica Neue"/>
                <a:ea typeface="Helvetica Neue"/>
                <a:cs typeface="Helvetica Neue"/>
              </a:defRPr>
            </a:pPr>
            <a:r>
              <a:rPr sz="1650" b="0">
                <a:solidFill>
                  <a:srgbClr val="B4C1D4"/>
                </a:solidFill>
                <a:latin typeface="Helvetica Neue"/>
                <a:ea typeface="Helvetica Neue"/>
                <a:cs typeface="Helvetica Neue"/>
              </a:rPr>
              <a:t>2</a:t>
            </a:r>
          </a:p>
        </p:txBody>
      </p:sp>
      <p:sp>
        <p:nvSpPr>
          <p:cNvPr id="3" name="texto">
            <a:extLst xmlns:a="http://schemas.openxmlformats.org/drawingml/2006/main">
              <a:ext uri="{FF2B5EF4-FFF2-40B4-BE49-F238E27FC236}">
                <a16:creationId xmlns:a16="http://schemas.microsoft.com/office/drawing/2014/main" id="{1C706ADA-8A01-464B-8EE9-4629A5332BA4}"/>
              </a:ext>
            </a:extLst>
          </p:cNvPr>
          <p:cNvSpPr>
            <a:spLocks xmlns:a="http://schemas.openxmlformats.org/drawingml/2006/main" noGrp="1"/>
          </p:cNvSpPr>
          <p:nvPr/>
        </p:nvSpPr>
        <p:spPr>
          <a:xfrm xmlns:a="http://schemas.openxmlformats.org/drawingml/2006/main">
            <a:off x="685800" y="195262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75DDD5"/>
                </a:solidFill>
                <a:latin typeface="Helvetica Neue"/>
                <a:ea typeface="Helvetica Neue"/>
                <a:cs typeface="Helvetica Neue"/>
              </a:defRPr>
            </a:pPr>
            <a:r>
              <a:rPr sz="2850" b="1">
                <a:solidFill>
                  <a:srgbClr val="75DDD5"/>
                </a:solidFill>
                <a:latin typeface="Helvetica Neue"/>
                <a:ea typeface="Helvetica Neue"/>
                <a:cs typeface="Helvetica Neue"/>
              </a:rPr>
              <a:t>01</a:t>
            </a:r>
          </a:p>
        </p:txBody>
      </p:sp>
      <p:sp>
        <p:nvSpPr>
          <p:cNvPr id="4" name="texto">
            <a:extLst xmlns:a="http://schemas.openxmlformats.org/drawingml/2006/main">
              <a:ext uri="{FF2B5EF4-FFF2-40B4-BE49-F238E27FC236}">
                <a16:creationId xmlns:a16="http://schemas.microsoft.com/office/drawing/2014/main" id="{B93218A2-9ECB-40D7-8F14-CE1AFDAFF736}"/>
              </a:ext>
            </a:extLst>
          </p:cNvPr>
          <p:cNvSpPr>
            <a:spLocks xmlns:a="http://schemas.openxmlformats.org/drawingml/2006/main" noGrp="1"/>
          </p:cNvSpPr>
          <p:nvPr/>
        </p:nvSpPr>
        <p:spPr>
          <a:xfrm xmlns:a="http://schemas.openxmlformats.org/drawingml/2006/main">
            <a:off x="1809750" y="1952625"/>
            <a:ext cx="909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F5F1E8"/>
                </a:solidFill>
                <a:latin typeface="Helvetica Neue"/>
                <a:ea typeface="Helvetica Neue"/>
                <a:cs typeface="Helvetica Neue"/>
              </a:defRPr>
            </a:pPr>
            <a:r>
              <a:rPr sz="3225" b="0">
                <a:solidFill>
                  <a:srgbClr val="F5F1E8"/>
                </a:solidFill>
                <a:latin typeface="Helvetica Neue"/>
                <a:ea typeface="Helvetica Neue"/>
                <a:cs typeface="Helvetica Neue"/>
              </a:rPr>
              <a:t>Tu número de DNI</a:t>
            </a:r>
          </a:p>
        </p:txBody>
      </p:sp>
      <p:sp>
        <p:nvSpPr>
          <p:cNvPr id="5" name="texto">
            <a:extLst xmlns:a="http://schemas.openxmlformats.org/drawingml/2006/main">
              <a:ext uri="{FF2B5EF4-FFF2-40B4-BE49-F238E27FC236}">
                <a16:creationId xmlns:a16="http://schemas.microsoft.com/office/drawing/2014/main" id="{6FB672B9-32B5-4DF3-AD14-409F72599C20}"/>
              </a:ext>
            </a:extLst>
          </p:cNvPr>
          <p:cNvSpPr>
            <a:spLocks xmlns:a="http://schemas.openxmlformats.org/drawingml/2006/main" noGrp="1"/>
          </p:cNvSpPr>
          <p:nvPr/>
        </p:nvSpPr>
        <p:spPr>
          <a:xfrm xmlns:a="http://schemas.openxmlformats.org/drawingml/2006/main">
            <a:off x="685800" y="300037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75DDD5"/>
                </a:solidFill>
                <a:latin typeface="Helvetica Neue"/>
                <a:ea typeface="Helvetica Neue"/>
                <a:cs typeface="Helvetica Neue"/>
              </a:defRPr>
            </a:pPr>
            <a:r>
              <a:rPr sz="2850" b="1">
                <a:solidFill>
                  <a:srgbClr val="75DDD5"/>
                </a:solidFill>
                <a:latin typeface="Helvetica Neue"/>
                <a:ea typeface="Helvetica Neue"/>
                <a:cs typeface="Helvetica Neue"/>
              </a:rPr>
              <a:t>02</a:t>
            </a:r>
          </a:p>
        </p:txBody>
      </p:sp>
      <p:sp>
        <p:nvSpPr>
          <p:cNvPr id="6" name="texto">
            <a:extLst xmlns:a="http://schemas.openxmlformats.org/drawingml/2006/main">
              <a:ext uri="{FF2B5EF4-FFF2-40B4-BE49-F238E27FC236}">
                <a16:creationId xmlns:a16="http://schemas.microsoft.com/office/drawing/2014/main" id="{A84E4048-7779-4B04-9D1F-07A2FED0D1A8}"/>
              </a:ext>
            </a:extLst>
          </p:cNvPr>
          <p:cNvSpPr>
            <a:spLocks xmlns:a="http://schemas.openxmlformats.org/drawingml/2006/main" noGrp="1"/>
          </p:cNvSpPr>
          <p:nvPr/>
        </p:nvSpPr>
        <p:spPr>
          <a:xfrm xmlns:a="http://schemas.openxmlformats.org/drawingml/2006/main">
            <a:off x="1809750" y="3000375"/>
            <a:ext cx="909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F5F1E8"/>
                </a:solidFill>
                <a:latin typeface="Helvetica Neue"/>
                <a:ea typeface="Helvetica Neue"/>
                <a:cs typeface="Helvetica Neue"/>
              </a:defRPr>
            </a:pPr>
            <a:r>
              <a:rPr sz="3225" b="0">
                <a:solidFill>
                  <a:srgbClr val="F5F1E8"/>
                </a:solidFill>
                <a:latin typeface="Helvetica Neue"/>
                <a:ea typeface="Helvetica Neue"/>
                <a:cs typeface="Helvetica Neue"/>
              </a:rPr>
              <a:t>Una foto de tu rostro</a:t>
            </a:r>
          </a:p>
        </p:txBody>
      </p:sp>
      <p:sp>
        <p:nvSpPr>
          <p:cNvPr id="7" name="texto">
            <a:extLst xmlns:a="http://schemas.openxmlformats.org/drawingml/2006/main">
              <a:ext uri="{FF2B5EF4-FFF2-40B4-BE49-F238E27FC236}">
                <a16:creationId xmlns:a16="http://schemas.microsoft.com/office/drawing/2014/main" id="{A38D41F7-E636-4D89-935A-D38FF2838502}"/>
              </a:ext>
            </a:extLst>
          </p:cNvPr>
          <p:cNvSpPr>
            <a:spLocks xmlns:a="http://schemas.openxmlformats.org/drawingml/2006/main" noGrp="1"/>
          </p:cNvSpPr>
          <p:nvPr/>
        </p:nvSpPr>
        <p:spPr>
          <a:xfrm xmlns:a="http://schemas.openxmlformats.org/drawingml/2006/main">
            <a:off x="685800" y="404812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75DDD5"/>
                </a:solidFill>
                <a:latin typeface="Helvetica Neue"/>
                <a:ea typeface="Helvetica Neue"/>
                <a:cs typeface="Helvetica Neue"/>
              </a:defRPr>
            </a:pPr>
            <a:r>
              <a:rPr sz="2850" b="1">
                <a:solidFill>
                  <a:srgbClr val="75DDD5"/>
                </a:solidFill>
                <a:latin typeface="Helvetica Neue"/>
                <a:ea typeface="Helvetica Neue"/>
                <a:cs typeface="Helvetica Neue"/>
              </a:rPr>
              <a:t>03</a:t>
            </a:r>
          </a:p>
        </p:txBody>
      </p:sp>
      <p:sp>
        <p:nvSpPr>
          <p:cNvPr id="8" name="texto">
            <a:extLst xmlns:a="http://schemas.openxmlformats.org/drawingml/2006/main">
              <a:ext uri="{FF2B5EF4-FFF2-40B4-BE49-F238E27FC236}">
                <a16:creationId xmlns:a16="http://schemas.microsoft.com/office/drawing/2014/main" id="{2AD33922-D254-4ED1-ADD7-79AAD135B62C}"/>
              </a:ext>
            </a:extLst>
          </p:cNvPr>
          <p:cNvSpPr>
            <a:spLocks xmlns:a="http://schemas.openxmlformats.org/drawingml/2006/main" noGrp="1"/>
          </p:cNvSpPr>
          <p:nvPr/>
        </p:nvSpPr>
        <p:spPr>
          <a:xfrm xmlns:a="http://schemas.openxmlformats.org/drawingml/2006/main">
            <a:off x="1809750" y="4048125"/>
            <a:ext cx="909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F5F1E8"/>
                </a:solidFill>
                <a:latin typeface="Helvetica Neue"/>
                <a:ea typeface="Helvetica Neue"/>
                <a:cs typeface="Helvetica Neue"/>
              </a:defRPr>
            </a:pPr>
            <a:r>
              <a:rPr sz="3225" b="0">
                <a:solidFill>
                  <a:srgbClr val="F5F1E8"/>
                </a:solidFill>
                <a:latin typeface="Helvetica Neue"/>
                <a:ea typeface="Helvetica Neue"/>
                <a:cs typeface="Helvetica Neue"/>
              </a:rPr>
              <a:t>Tu número de celular</a:t>
            </a:r>
          </a:p>
        </p:txBody>
      </p:sp>
      <p:sp>
        <p:nvSpPr>
          <p:cNvPr id="9" name="texto">
            <a:extLst xmlns:a="http://schemas.openxmlformats.org/drawingml/2006/main">
              <a:ext uri="{FF2B5EF4-FFF2-40B4-BE49-F238E27FC236}">
                <a16:creationId xmlns:a16="http://schemas.microsoft.com/office/drawing/2014/main" id="{8446A9A9-0BF9-4844-B80D-2303E9085F50}"/>
              </a:ext>
            </a:extLst>
          </p:cNvPr>
          <p:cNvSpPr>
            <a:spLocks xmlns:a="http://schemas.openxmlformats.org/drawingml/2006/main" noGrp="1"/>
          </p:cNvSpPr>
          <p:nvPr/>
        </p:nvSpPr>
        <p:spPr>
          <a:xfrm xmlns:a="http://schemas.openxmlformats.org/drawingml/2006/main">
            <a:off x="685800" y="5381625"/>
            <a:ext cx="876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75DDD5"/>
                </a:solidFill>
                <a:latin typeface="Helvetica Neue"/>
                <a:ea typeface="Helvetica Neue"/>
                <a:cs typeface="Helvetica Neue"/>
              </a:defRPr>
            </a:pPr>
            <a:r>
              <a:rPr sz="1950" b="1">
                <a:solidFill>
                  <a:srgbClr val="75DDD5"/>
                </a:solidFill>
                <a:latin typeface="Helvetica Neue"/>
                <a:ea typeface="Helvetica Neue"/>
                <a:cs typeface="Helvetica Neue"/>
              </a:rPr>
              <a:t>Elige uno… o más de uno</a:t>
            </a:r>
          </a:p>
        </p:txBody>
      </p:sp>
    </p:spTree>
    <p:extLst>
      <p:ext uri="{BB962C8B-B14F-4D97-AF65-F5344CB8AC3E}">
        <p14:creationId xmlns:p14="http://schemas.microsoft.com/office/powerpoint/2010/main" val="1247272985"/>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texto">
            <a:extLst xmlns:a="http://schemas.openxmlformats.org/drawingml/2006/main">
              <a:ext uri="{FF2B5EF4-FFF2-40B4-BE49-F238E27FC236}">
                <a16:creationId xmlns:a16="http://schemas.microsoft.com/office/drawing/2014/main" id="{ECC64DFF-B39F-4405-A6F3-611009E18A48}"/>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10182B"/>
                </a:solidFill>
                <a:latin typeface="Helvetica Neue"/>
                <a:ea typeface="Helvetica Neue"/>
                <a:cs typeface="Helvetica Neue"/>
              </a:defRPr>
            </a:pPr>
            <a:r>
              <a:rPr sz="3750" b="1">
                <a:solidFill>
                  <a:srgbClr val="10182B"/>
                </a:solidFill>
                <a:latin typeface="Helvetica Neue"/>
                <a:ea typeface="Helvetica Neue"/>
                <a:cs typeface="Helvetica Neue"/>
              </a:rPr>
              <a:t>Datos personales y sensibles</a:t>
            </a:r>
          </a:p>
        </p:txBody>
      </p:sp>
      <p:sp>
        <p:nvSpPr>
          <p:cNvPr id="2" name="texto">
            <a:extLst xmlns:a="http://schemas.openxmlformats.org/drawingml/2006/main">
              <a:ext uri="{FF2B5EF4-FFF2-40B4-BE49-F238E27FC236}">
                <a16:creationId xmlns:a16="http://schemas.microsoft.com/office/drawing/2014/main" id="{F8359F5E-D945-46CA-8EC1-59B5E66846B1}"/>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566276"/>
                </a:solidFill>
                <a:latin typeface="Helvetica Neue"/>
                <a:ea typeface="Helvetica Neue"/>
                <a:cs typeface="Helvetica Neue"/>
              </a:defRPr>
            </a:pPr>
            <a:r>
              <a:rPr sz="1650" b="0">
                <a:solidFill>
                  <a:srgbClr val="566276"/>
                </a:solidFill>
                <a:latin typeface="Helvetica Neue"/>
                <a:ea typeface="Helvetica Neue"/>
                <a:cs typeface="Helvetica Neue"/>
              </a:rPr>
              <a:t>3</a:t>
            </a:r>
          </a:p>
        </p:txBody>
      </p:sp>
      <p:sp>
        <p:nvSpPr>
          <p:cNvPr id="3" name="texto">
            <a:extLst xmlns:a="http://schemas.openxmlformats.org/drawingml/2006/main">
              <a:ext uri="{FF2B5EF4-FFF2-40B4-BE49-F238E27FC236}">
                <a16:creationId xmlns:a16="http://schemas.microsoft.com/office/drawing/2014/main" id="{F8E8581C-9A5D-49C0-AE2B-3383235E1D43}"/>
              </a:ext>
            </a:extLst>
          </p:cNvPr>
          <p:cNvSpPr>
            <a:spLocks xmlns:a="http://schemas.openxmlformats.org/drawingml/2006/main" noGrp="1"/>
          </p:cNvSpPr>
          <p:nvPr/>
        </p:nvSpPr>
        <p:spPr>
          <a:xfrm xmlns:a="http://schemas.openxmlformats.org/drawingml/2006/main">
            <a:off x="685800" y="13811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276"/>
                </a:solidFill>
                <a:latin typeface="Helvetica Neue"/>
                <a:ea typeface="Helvetica Neue"/>
                <a:cs typeface="Helvetica Neue"/>
              </a:defRPr>
            </a:pPr>
            <a:r>
              <a:rPr sz="1875" b="0">
                <a:solidFill>
                  <a:srgbClr val="566276"/>
                </a:solidFill>
                <a:latin typeface="Helvetica Neue"/>
                <a:ea typeface="Helvetica Neue"/>
                <a:cs typeface="Helvetica Neue"/>
              </a:rPr>
              <a:t>Información que identifica o hace identificable a una persona</a:t>
            </a:r>
          </a:p>
        </p:txBody>
      </p:sp>
      <p:sp>
        <p:nvSpPr>
          <p:cNvPr id="4" name="texto">
            <a:extLst xmlns:a="http://schemas.openxmlformats.org/drawingml/2006/main">
              <a:ext uri="{FF2B5EF4-FFF2-40B4-BE49-F238E27FC236}">
                <a16:creationId xmlns:a16="http://schemas.microsoft.com/office/drawing/2014/main" id="{67530C74-8EE5-40A2-A22D-81950F85381D}"/>
              </a:ext>
            </a:extLst>
          </p:cNvPr>
          <p:cNvSpPr>
            <a:spLocks xmlns:a="http://schemas.openxmlformats.org/drawingml/2006/main" noGrp="1"/>
          </p:cNvSpPr>
          <p:nvPr/>
        </p:nvSpPr>
        <p:spPr>
          <a:xfrm xmlns:a="http://schemas.openxmlformats.org/drawingml/2006/main">
            <a:off x="685800" y="18478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087E83"/>
                </a:solidFill>
                <a:latin typeface="Helvetica Neue"/>
                <a:ea typeface="Helvetica Neue"/>
                <a:cs typeface="Helvetica Neue"/>
              </a:defRPr>
            </a:pPr>
            <a:r>
              <a:rPr sz="3000" b="1">
                <a:solidFill>
                  <a:srgbClr val="087E83"/>
                </a:solidFill>
                <a:latin typeface="Helvetica Neue"/>
                <a:ea typeface="Helvetica Neue"/>
                <a:cs typeface="Helvetica Neue"/>
              </a:rPr>
              <a:t>Personales</a:t>
            </a:r>
          </a:p>
        </p:txBody>
      </p:sp>
      <p:sp>
        <p:nvSpPr>
          <p:cNvPr id="5" name="texto">
            <a:extLst xmlns:a="http://schemas.openxmlformats.org/drawingml/2006/main">
              <a:ext uri="{FF2B5EF4-FFF2-40B4-BE49-F238E27FC236}">
                <a16:creationId xmlns:a16="http://schemas.microsoft.com/office/drawing/2014/main" id="{E3FD9E57-5B5D-41C4-A594-FCC5ADAEECEA}"/>
              </a:ext>
            </a:extLst>
          </p:cNvPr>
          <p:cNvSpPr>
            <a:spLocks xmlns:a="http://schemas.openxmlformats.org/drawingml/2006/main" noGrp="1"/>
          </p:cNvSpPr>
          <p:nvPr/>
        </p:nvSpPr>
        <p:spPr>
          <a:xfrm xmlns:a="http://schemas.openxmlformats.org/drawingml/2006/main">
            <a:off x="6191250" y="1847850"/>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D84B3B"/>
                </a:solidFill>
                <a:latin typeface="Helvetica Neue"/>
                <a:ea typeface="Helvetica Neue"/>
                <a:cs typeface="Helvetica Neue"/>
              </a:defRPr>
            </a:pPr>
            <a:r>
              <a:rPr sz="3000" b="1">
                <a:solidFill>
                  <a:srgbClr val="D84B3B"/>
                </a:solidFill>
                <a:latin typeface="Helvetica Neue"/>
                <a:ea typeface="Helvetica Neue"/>
                <a:cs typeface="Helvetica Neue"/>
              </a:rPr>
              <a:t>Sensibles</a:t>
            </a:r>
          </a:p>
        </p:txBody>
      </p:sp>
      <p:sp>
        <p:nvSpPr>
          <p:cNvPr id="6" name="texto">
            <a:extLst xmlns:a="http://schemas.openxmlformats.org/drawingml/2006/main">
              <a:ext uri="{FF2B5EF4-FFF2-40B4-BE49-F238E27FC236}">
                <a16:creationId xmlns:a16="http://schemas.microsoft.com/office/drawing/2014/main" id="{BDAEAF08-BEFE-4600-ABDD-5D5304C90358}"/>
              </a:ext>
            </a:extLst>
          </p:cNvPr>
          <p:cNvSpPr>
            <a:spLocks xmlns:a="http://schemas.openxmlformats.org/drawingml/2006/main" noGrp="1"/>
          </p:cNvSpPr>
          <p:nvPr/>
        </p:nvSpPr>
        <p:spPr>
          <a:xfrm xmlns:a="http://schemas.openxmlformats.org/drawingml/2006/main">
            <a:off x="685800" y="2667000"/>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10182B"/>
                </a:solidFill>
                <a:latin typeface="Helvetica Neue"/>
                <a:ea typeface="Helvetica Neue"/>
                <a:cs typeface="Helvetica Neue"/>
              </a:defRPr>
            </a:pPr>
            <a:r>
              <a:rPr sz="2550" b="0">
                <a:solidFill>
                  <a:srgbClr val="10182B"/>
                </a:solidFill>
                <a:latin typeface="Helvetica Neue"/>
                <a:ea typeface="Helvetica Neue"/>
                <a:cs typeface="Helvetica Neue"/>
              </a:rPr>
              <a:t>DNI</a:t>
            </a:r>
          </a:p>
        </p:txBody>
      </p:sp>
      <p:sp>
        <p:nvSpPr>
          <p:cNvPr id="7" name="texto">
            <a:extLst xmlns:a="http://schemas.openxmlformats.org/drawingml/2006/main">
              <a:ext uri="{FF2B5EF4-FFF2-40B4-BE49-F238E27FC236}">
                <a16:creationId xmlns:a16="http://schemas.microsoft.com/office/drawing/2014/main" id="{118AE4B8-D402-4723-AC85-119953D19703}"/>
              </a:ext>
            </a:extLst>
          </p:cNvPr>
          <p:cNvSpPr>
            <a:spLocks xmlns:a="http://schemas.openxmlformats.org/drawingml/2006/main" noGrp="1"/>
          </p:cNvSpPr>
          <p:nvPr/>
        </p:nvSpPr>
        <p:spPr>
          <a:xfrm xmlns:a="http://schemas.openxmlformats.org/drawingml/2006/main">
            <a:off x="685800" y="3333750"/>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10182B"/>
                </a:solidFill>
                <a:latin typeface="Helvetica Neue"/>
                <a:ea typeface="Helvetica Neue"/>
                <a:cs typeface="Helvetica Neue"/>
              </a:defRPr>
            </a:pPr>
            <a:r>
              <a:rPr sz="2550" b="0">
                <a:solidFill>
                  <a:srgbClr val="10182B"/>
                </a:solidFill>
                <a:latin typeface="Helvetica Neue"/>
                <a:ea typeface="Helvetica Neue"/>
                <a:cs typeface="Helvetica Neue"/>
              </a:rPr>
              <a:t>Rostro y voz</a:t>
            </a:r>
          </a:p>
        </p:txBody>
      </p:sp>
      <p:sp>
        <p:nvSpPr>
          <p:cNvPr id="8" name="texto">
            <a:extLst xmlns:a="http://schemas.openxmlformats.org/drawingml/2006/main">
              <a:ext uri="{FF2B5EF4-FFF2-40B4-BE49-F238E27FC236}">
                <a16:creationId xmlns:a16="http://schemas.microsoft.com/office/drawing/2014/main" id="{F264EAAC-578D-4AE8-8D7E-7B9FBFF23C33}"/>
              </a:ext>
            </a:extLst>
          </p:cNvPr>
          <p:cNvSpPr>
            <a:spLocks xmlns:a="http://schemas.openxmlformats.org/drawingml/2006/main" noGrp="1"/>
          </p:cNvSpPr>
          <p:nvPr/>
        </p:nvSpPr>
        <p:spPr>
          <a:xfrm xmlns:a="http://schemas.openxmlformats.org/drawingml/2006/main">
            <a:off x="685800" y="4000500"/>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10182B"/>
                </a:solidFill>
                <a:latin typeface="Helvetica Neue"/>
                <a:ea typeface="Helvetica Neue"/>
                <a:cs typeface="Helvetica Neue"/>
              </a:defRPr>
            </a:pPr>
            <a:r>
              <a:rPr sz="2550" b="0">
                <a:solidFill>
                  <a:srgbClr val="10182B"/>
                </a:solidFill>
                <a:latin typeface="Helvetica Neue"/>
                <a:ea typeface="Helvetica Neue"/>
                <a:cs typeface="Helvetica Neue"/>
              </a:rPr>
              <a:t>Celular</a:t>
            </a:r>
          </a:p>
        </p:txBody>
      </p:sp>
      <p:sp>
        <p:nvSpPr>
          <p:cNvPr id="9" name="texto">
            <a:extLst xmlns:a="http://schemas.openxmlformats.org/drawingml/2006/main">
              <a:ext uri="{FF2B5EF4-FFF2-40B4-BE49-F238E27FC236}">
                <a16:creationId xmlns:a16="http://schemas.microsoft.com/office/drawing/2014/main" id="{673C71D5-77FD-4E2E-B058-5CED2BEF8CFC}"/>
              </a:ext>
            </a:extLst>
          </p:cNvPr>
          <p:cNvSpPr>
            <a:spLocks xmlns:a="http://schemas.openxmlformats.org/drawingml/2006/main" noGrp="1"/>
          </p:cNvSpPr>
          <p:nvPr/>
        </p:nvSpPr>
        <p:spPr>
          <a:xfrm xmlns:a="http://schemas.openxmlformats.org/drawingml/2006/main">
            <a:off x="6191250" y="26670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10182B"/>
                </a:solidFill>
                <a:latin typeface="Helvetica Neue"/>
                <a:ea typeface="Helvetica Neue"/>
                <a:cs typeface="Helvetica Neue"/>
              </a:defRPr>
            </a:pPr>
            <a:r>
              <a:rPr sz="2550" b="0">
                <a:solidFill>
                  <a:srgbClr val="10182B"/>
                </a:solidFill>
                <a:latin typeface="Helvetica Neue"/>
                <a:ea typeface="Helvetica Neue"/>
                <a:cs typeface="Helvetica Neue"/>
              </a:rPr>
              <a:t>Salud</a:t>
            </a:r>
          </a:p>
        </p:txBody>
      </p:sp>
      <p:sp>
        <p:nvSpPr>
          <p:cNvPr id="10" name="texto">
            <a:extLst xmlns:a="http://schemas.openxmlformats.org/drawingml/2006/main">
              <a:ext uri="{FF2B5EF4-FFF2-40B4-BE49-F238E27FC236}">
                <a16:creationId xmlns:a16="http://schemas.microsoft.com/office/drawing/2014/main" id="{AF4C785E-76FC-4A45-A85D-79BF2AEE6289}"/>
              </a:ext>
            </a:extLst>
          </p:cNvPr>
          <p:cNvSpPr>
            <a:spLocks xmlns:a="http://schemas.openxmlformats.org/drawingml/2006/main" noGrp="1"/>
          </p:cNvSpPr>
          <p:nvPr/>
        </p:nvSpPr>
        <p:spPr>
          <a:xfrm xmlns:a="http://schemas.openxmlformats.org/drawingml/2006/main">
            <a:off x="6191250" y="33337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10182B"/>
                </a:solidFill>
                <a:latin typeface="Helvetica Neue"/>
                <a:ea typeface="Helvetica Neue"/>
                <a:cs typeface="Helvetica Neue"/>
              </a:defRPr>
            </a:pPr>
            <a:r>
              <a:rPr sz="2550" b="0">
                <a:solidFill>
                  <a:srgbClr val="10182B"/>
                </a:solidFill>
                <a:latin typeface="Helvetica Neue"/>
                <a:ea typeface="Helvetica Neue"/>
                <a:cs typeface="Helvetica Neue"/>
              </a:rPr>
              <a:t>Ingresos económicos</a:t>
            </a:r>
          </a:p>
        </p:txBody>
      </p:sp>
      <p:sp>
        <p:nvSpPr>
          <p:cNvPr id="11" name="texto">
            <a:extLst xmlns:a="http://schemas.openxmlformats.org/drawingml/2006/main">
              <a:ext uri="{FF2B5EF4-FFF2-40B4-BE49-F238E27FC236}">
                <a16:creationId xmlns:a16="http://schemas.microsoft.com/office/drawing/2014/main" id="{C27BA53A-A9BD-423C-B975-438A2405DF89}"/>
              </a:ext>
            </a:extLst>
          </p:cNvPr>
          <p:cNvSpPr>
            <a:spLocks xmlns:a="http://schemas.openxmlformats.org/drawingml/2006/main" noGrp="1"/>
          </p:cNvSpPr>
          <p:nvPr/>
        </p:nvSpPr>
        <p:spPr>
          <a:xfrm xmlns:a="http://schemas.openxmlformats.org/drawingml/2006/main">
            <a:off x="6191250" y="40005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10182B"/>
                </a:solidFill>
                <a:latin typeface="Helvetica Neue"/>
                <a:ea typeface="Helvetica Neue"/>
                <a:cs typeface="Helvetica Neue"/>
              </a:defRPr>
            </a:pPr>
            <a:r>
              <a:rPr sz="2550" b="0">
                <a:solidFill>
                  <a:srgbClr val="10182B"/>
                </a:solidFill>
                <a:latin typeface="Helvetica Neue"/>
                <a:ea typeface="Helvetica Neue"/>
                <a:cs typeface="Helvetica Neue"/>
              </a:rPr>
              <a:t>Biometría que identifica</a:t>
            </a:r>
          </a:p>
        </p:txBody>
      </p:sp>
      <p:sp>
        <p:nvSpPr>
          <p:cNvPr id="12" name="texto">
            <a:extLst xmlns:a="http://schemas.openxmlformats.org/drawingml/2006/main">
              <a:ext uri="{FF2B5EF4-FFF2-40B4-BE49-F238E27FC236}">
                <a16:creationId xmlns:a16="http://schemas.microsoft.com/office/drawing/2014/main" id="{EECE029E-3113-454C-BC7A-A9BB5FD6655E}"/>
              </a:ext>
            </a:extLst>
          </p:cNvPr>
          <p:cNvSpPr>
            <a:spLocks xmlns:a="http://schemas.openxmlformats.org/drawingml/2006/main" noGrp="1"/>
          </p:cNvSpPr>
          <p:nvPr/>
        </p:nvSpPr>
        <p:spPr>
          <a:xfrm xmlns:a="http://schemas.openxmlformats.org/drawingml/2006/main">
            <a:off x="685800" y="5381625"/>
            <a:ext cx="876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087E83"/>
                </a:solidFill>
                <a:latin typeface="Helvetica Neue"/>
                <a:ea typeface="Helvetica Neue"/>
                <a:cs typeface="Helvetica Neue"/>
              </a:defRPr>
            </a:pPr>
            <a:r>
              <a:rPr sz="1950" b="1">
                <a:solidFill>
                  <a:srgbClr val="087E83"/>
                </a:solidFill>
                <a:latin typeface="Helvetica Neue"/>
                <a:ea typeface="Helvetica Neue"/>
                <a:cs typeface="Helvetica Neue"/>
              </a:rPr>
              <a:t>Los datos sensibles requieren mayor protección</a:t>
            </a:r>
          </a:p>
        </p:txBody>
      </p:sp>
    </p:spTree>
    <p:extLst>
      <p:ext uri="{BB962C8B-B14F-4D97-AF65-F5344CB8AC3E}">
        <p14:creationId xmlns:p14="http://schemas.microsoft.com/office/powerpoint/2010/main" val="1553435493"/>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texto">
            <a:extLst xmlns:a="http://schemas.openxmlformats.org/drawingml/2006/main">
              <a:ext uri="{FF2B5EF4-FFF2-40B4-BE49-F238E27FC236}">
                <a16:creationId xmlns:a16="http://schemas.microsoft.com/office/drawing/2014/main" id="{61D64633-DFEC-4FEC-9268-F5FDB641C62E}"/>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10182B"/>
                </a:solidFill>
                <a:latin typeface="Helvetica Neue"/>
                <a:ea typeface="Helvetica Neue"/>
                <a:cs typeface="Helvetica Neue"/>
              </a:defRPr>
            </a:pPr>
            <a:r>
              <a:rPr sz="3750" b="1">
                <a:solidFill>
                  <a:srgbClr val="10182B"/>
                </a:solidFill>
                <a:latin typeface="Helvetica Neue"/>
                <a:ea typeface="Helvetica Neue"/>
                <a:cs typeface="Helvetica Neue"/>
              </a:rPr>
              <a:t>El sorteo de Alex</a:t>
            </a:r>
          </a:p>
        </p:txBody>
      </p:sp>
      <p:sp>
        <p:nvSpPr>
          <p:cNvPr id="2" name="texto">
            <a:extLst xmlns:a="http://schemas.openxmlformats.org/drawingml/2006/main">
              <a:ext uri="{FF2B5EF4-FFF2-40B4-BE49-F238E27FC236}">
                <a16:creationId xmlns:a16="http://schemas.microsoft.com/office/drawing/2014/main" id="{0393A996-6556-42B5-8564-A5356EBD6816}"/>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566276"/>
                </a:solidFill>
                <a:latin typeface="Helvetica Neue"/>
                <a:ea typeface="Helvetica Neue"/>
                <a:cs typeface="Helvetica Neue"/>
              </a:defRPr>
            </a:pPr>
            <a:r>
              <a:rPr sz="1650" b="0">
                <a:solidFill>
                  <a:srgbClr val="566276"/>
                </a:solidFill>
                <a:latin typeface="Helvetica Neue"/>
                <a:ea typeface="Helvetica Neue"/>
                <a:cs typeface="Helvetica Neue"/>
              </a:rPr>
              <a:t>4</a:t>
            </a:r>
          </a:p>
        </p:txBody>
      </p:sp>
      <p:sp>
        <p:nvSpPr>
          <p:cNvPr id="3" name="texto">
            <a:extLst xmlns:a="http://schemas.openxmlformats.org/drawingml/2006/main">
              <a:ext uri="{FF2B5EF4-FFF2-40B4-BE49-F238E27FC236}">
                <a16:creationId xmlns:a16="http://schemas.microsoft.com/office/drawing/2014/main" id="{8DCBFD11-3016-4176-8786-B0700FDF45A1}"/>
              </a:ext>
            </a:extLst>
          </p:cNvPr>
          <p:cNvSpPr>
            <a:spLocks xmlns:a="http://schemas.openxmlformats.org/drawingml/2006/main" noGrp="1"/>
          </p:cNvSpPr>
          <p:nvPr/>
        </p:nvSpPr>
        <p:spPr>
          <a:xfrm xmlns:a="http://schemas.openxmlformats.org/drawingml/2006/main">
            <a:off x="685800" y="17145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66276"/>
                </a:solidFill>
                <a:latin typeface="Helvetica Neue"/>
                <a:ea typeface="Helvetica Neue"/>
                <a:cs typeface="Helvetica Neue"/>
              </a:defRPr>
            </a:pPr>
            <a:r>
              <a:rPr sz="1800" b="0">
                <a:solidFill>
                  <a:srgbClr val="566276"/>
                </a:solidFill>
                <a:latin typeface="Helvetica Neue"/>
                <a:ea typeface="Helvetica Neue"/>
                <a:cs typeface="Helvetica Neue"/>
              </a:rPr>
              <a:t>Caso ficticio</a:t>
            </a:r>
          </a:p>
        </p:txBody>
      </p:sp>
      <p:sp>
        <p:nvSpPr>
          <p:cNvPr id="4" name="nodo_diagrama">
            <a:extLst xmlns:a="http://schemas.openxmlformats.org/drawingml/2006/main">
              <a:ext uri="{FF2B5EF4-FFF2-40B4-BE49-F238E27FC236}">
                <a16:creationId xmlns:a16="http://schemas.microsoft.com/office/drawing/2014/main" id="{D89EBEEF-9EB9-4CEE-8DC7-FF0D9720AF73}"/>
              </a:ext>
            </a:extLst>
          </p:cNvPr>
          <p:cNvSpPr>
            <a:spLocks xmlns:a="http://schemas.openxmlformats.org/drawingml/2006/main" noGrp="1"/>
          </p:cNvSpPr>
          <p:nvPr/>
        </p:nvSpPr>
        <p:spPr>
          <a:xfrm xmlns:a="http://schemas.openxmlformats.org/drawingml/2006/main">
            <a:off x="685800" y="2381250"/>
            <a:ext cx="3143250" cy="1143000"/>
          </a:xfrm>
          <a:prstGeom xmlns:a="http://schemas.openxmlformats.org/drawingml/2006/main" prst="rect">
            <a:avLst/>
          </a:prstGeom>
          <a:solidFill xmlns:a="http://schemas.openxmlformats.org/drawingml/2006/main">
            <a:srgbClr val="E4ECE7"/>
          </a:solidFill>
          <a:ln xmlns:a="http://schemas.openxmlformats.org/drawingml/2006/main" w="19050">
            <a:solidFill>
              <a:srgbClr val="087E83"/>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400" b="1">
                <a:solidFill>
                  <a:srgbClr val="10182B"/>
                </a:solidFill>
                <a:latin typeface="Helvetica Neue"/>
                <a:ea typeface="Helvetica Neue"/>
                <a:cs typeface="Helvetica Neue"/>
              </a:defRPr>
            </a:pPr>
            <a:r>
              <a:rPr sz="2400" b="1">
                <a:solidFill>
                  <a:srgbClr val="10182B"/>
                </a:solidFill>
                <a:latin typeface="Helvetica Neue"/>
                <a:ea typeface="Helvetica Neue"/>
                <a:cs typeface="Helvetica Neue"/>
              </a:rPr>
              <a:t>Inscripción</a:t>
            </a:r>
          </a:p>
        </p:txBody>
      </p:sp>
      <p:sp>
        <p:nvSpPr>
          <p:cNvPr id="5" name="nodo_diagrama">
            <a:extLst xmlns:a="http://schemas.openxmlformats.org/drawingml/2006/main">
              <a:ext uri="{FF2B5EF4-FFF2-40B4-BE49-F238E27FC236}">
                <a16:creationId xmlns:a16="http://schemas.microsoft.com/office/drawing/2014/main" id="{0849C0A2-F4A9-48B0-9763-DB2E6631DC78}"/>
              </a:ext>
            </a:extLst>
          </p:cNvPr>
          <p:cNvSpPr>
            <a:spLocks xmlns:a="http://schemas.openxmlformats.org/drawingml/2006/main" noGrp="1"/>
          </p:cNvSpPr>
          <p:nvPr/>
        </p:nvSpPr>
        <p:spPr>
          <a:xfrm xmlns:a="http://schemas.openxmlformats.org/drawingml/2006/main">
            <a:off x="4400550" y="2381250"/>
            <a:ext cx="3143250" cy="1143000"/>
          </a:xfrm>
          <a:prstGeom xmlns:a="http://schemas.openxmlformats.org/drawingml/2006/main" prst="rect">
            <a:avLst/>
          </a:prstGeom>
          <a:solidFill xmlns:a="http://schemas.openxmlformats.org/drawingml/2006/main">
            <a:srgbClr val="E4ECE7"/>
          </a:solidFill>
          <a:ln xmlns:a="http://schemas.openxmlformats.org/drawingml/2006/main" w="19050">
            <a:solidFill>
              <a:srgbClr val="087E83"/>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400" b="1">
                <a:solidFill>
                  <a:srgbClr val="10182B"/>
                </a:solidFill>
                <a:latin typeface="Helvetica Neue"/>
                <a:ea typeface="Helvetica Neue"/>
                <a:cs typeface="Helvetica Neue"/>
              </a:defRPr>
            </a:pPr>
            <a:r>
              <a:rPr sz="2400" b="1">
                <a:solidFill>
                  <a:srgbClr val="10182B"/>
                </a:solidFill>
                <a:latin typeface="Helvetica Neue"/>
                <a:ea typeface="Helvetica Neue"/>
                <a:cs typeface="Helvetica Neue"/>
              </a:rPr>
              <a:t>Base de datos</a:t>
            </a:r>
          </a:p>
        </p:txBody>
      </p:sp>
      <p:sp>
        <p:nvSpPr>
          <p:cNvPr id="6" name="nodo_diagrama">
            <a:extLst xmlns:a="http://schemas.openxmlformats.org/drawingml/2006/main">
              <a:ext uri="{FF2B5EF4-FFF2-40B4-BE49-F238E27FC236}">
                <a16:creationId xmlns:a16="http://schemas.microsoft.com/office/drawing/2014/main" id="{FA5F549B-55F2-4490-B5AE-6471C10438A0}"/>
              </a:ext>
            </a:extLst>
          </p:cNvPr>
          <p:cNvSpPr>
            <a:spLocks xmlns:a="http://schemas.openxmlformats.org/drawingml/2006/main" noGrp="1"/>
          </p:cNvSpPr>
          <p:nvPr/>
        </p:nvSpPr>
        <p:spPr>
          <a:xfrm xmlns:a="http://schemas.openxmlformats.org/drawingml/2006/main">
            <a:off x="8115300" y="2381250"/>
            <a:ext cx="3143250" cy="1143000"/>
          </a:xfrm>
          <a:prstGeom xmlns:a="http://schemas.openxmlformats.org/drawingml/2006/main" prst="rect">
            <a:avLst/>
          </a:prstGeom>
          <a:solidFill xmlns:a="http://schemas.openxmlformats.org/drawingml/2006/main">
            <a:srgbClr val="E4ECE7"/>
          </a:solidFill>
          <a:ln xmlns:a="http://schemas.openxmlformats.org/drawingml/2006/main" w="19050">
            <a:solidFill>
              <a:srgbClr val="087E83"/>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400" b="1">
                <a:solidFill>
                  <a:srgbClr val="10182B"/>
                </a:solidFill>
                <a:latin typeface="Helvetica Neue"/>
                <a:ea typeface="Helvetica Neue"/>
                <a:cs typeface="Helvetica Neue"/>
              </a:defRPr>
            </a:pPr>
            <a:r>
              <a:rPr sz="2400" b="1">
                <a:solidFill>
                  <a:srgbClr val="10182B"/>
                </a:solidFill>
                <a:latin typeface="Helvetica Neue"/>
                <a:ea typeface="Helvetica Neue"/>
                <a:cs typeface="Helvetica Neue"/>
              </a:rPr>
              <a:t>Publicidad</a:t>
            </a:r>
          </a:p>
        </p:txBody>
      </p:sp>
      <p:cxnSp>
        <p:nvCxnSpPr>
          <p:cNvPr id="19" name=""/>
          <p:cNvCxnSpPr>
            <a:stCxn xmlns:a="http://schemas.openxmlformats.org/drawingml/2006/main" id="4" idx="3"/>
            <a:endCxn xmlns:a="http://schemas.openxmlformats.org/drawingml/2006/main" id="5" idx="1"/>
          </p:cNvCxnSpPr>
          <p:nvPr/>
        </p:nvCxnSpPr>
        <p:spPr>
          <a:xfrm xmlns:a="http://schemas.openxmlformats.org/drawingml/2006/main">
            <a:off x="3829050" y="2952750"/>
            <a:ext cx="571500" cy="0"/>
          </a:xfrm>
          <a:prstGeom xmlns:a="http://schemas.openxmlformats.org/drawingml/2006/main" prst="straightConnector1">
            <a:avLst/>
          </a:prstGeom>
          <a:ln xmlns:a="http://schemas.openxmlformats.org/drawingml/2006/main" w="28575">
            <a:solidFill>
              <a:srgbClr val="087E83"/>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543800" y="2952750"/>
            <a:ext cx="571500" cy="0"/>
          </a:xfrm>
          <a:prstGeom xmlns:a="http://schemas.openxmlformats.org/drawingml/2006/main" prst="straightConnector1">
            <a:avLst/>
          </a:prstGeom>
          <a:ln xmlns:a="http://schemas.openxmlformats.org/drawingml/2006/main" w="28575">
            <a:solidFill>
              <a:srgbClr val="087E83"/>
            </a:solidFill>
            <a:tailEnd type="triangle" w="med" len="med"/>
          </a:ln>
        </p:spPr>
      </p:cxnSp>
      <p:sp>
        <p:nvSpPr>
          <p:cNvPr id="9" name="texto">
            <a:extLst xmlns:a="http://schemas.openxmlformats.org/drawingml/2006/main">
              <a:ext uri="{FF2B5EF4-FFF2-40B4-BE49-F238E27FC236}">
                <a16:creationId xmlns:a16="http://schemas.microsoft.com/office/drawing/2014/main" id="{A12F2BE0-B968-42C2-B075-90755713DE4E}"/>
              </a:ext>
            </a:extLst>
          </p:cNvPr>
          <p:cNvSpPr>
            <a:spLocks xmlns:a="http://schemas.openxmlformats.org/drawingml/2006/main" noGrp="1"/>
          </p:cNvSpPr>
          <p:nvPr/>
        </p:nvSpPr>
        <p:spPr>
          <a:xfrm xmlns:a="http://schemas.openxmlformats.org/drawingml/2006/main">
            <a:off x="685800" y="3714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566276"/>
                </a:solidFill>
                <a:latin typeface="Helvetica Neue"/>
                <a:ea typeface="Helvetica Neue"/>
                <a:cs typeface="Helvetica Neue"/>
              </a:defRPr>
            </a:pPr>
            <a:r>
              <a:rPr sz="1950" b="0">
                <a:solidFill>
                  <a:srgbClr val="566276"/>
                </a:solidFill>
                <a:latin typeface="Helvetica Neue"/>
                <a:ea typeface="Helvetica Neue"/>
                <a:cs typeface="Helvetica Neue"/>
              </a:rPr>
              <a:t>Nombre + celular</a:t>
            </a:r>
          </a:p>
        </p:txBody>
      </p:sp>
      <p:sp>
        <p:nvSpPr>
          <p:cNvPr id="10" name="texto">
            <a:extLst xmlns:a="http://schemas.openxmlformats.org/drawingml/2006/main">
              <a:ext uri="{FF2B5EF4-FFF2-40B4-BE49-F238E27FC236}">
                <a16:creationId xmlns:a16="http://schemas.microsoft.com/office/drawing/2014/main" id="{1E4E0FC2-EEE6-423D-988A-59E473AB7D42}"/>
              </a:ext>
            </a:extLst>
          </p:cNvPr>
          <p:cNvSpPr>
            <a:spLocks xmlns:a="http://schemas.openxmlformats.org/drawingml/2006/main" noGrp="1"/>
          </p:cNvSpPr>
          <p:nvPr/>
        </p:nvSpPr>
        <p:spPr>
          <a:xfrm xmlns:a="http://schemas.openxmlformats.org/drawingml/2006/main">
            <a:off x="4400550" y="3714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566276"/>
                </a:solidFill>
                <a:latin typeface="Helvetica Neue"/>
                <a:ea typeface="Helvetica Neue"/>
                <a:cs typeface="Helvetica Neue"/>
              </a:defRPr>
            </a:pPr>
            <a:r>
              <a:rPr sz="1950" b="0">
                <a:solidFill>
                  <a:srgbClr val="566276"/>
                </a:solidFill>
                <a:latin typeface="Helvetica Neue"/>
                <a:ea typeface="Helvetica Neue"/>
                <a:cs typeface="Helvetica Neue"/>
              </a:rPr>
              <a:t>¿Quién accede?</a:t>
            </a:r>
          </a:p>
        </p:txBody>
      </p:sp>
      <p:sp>
        <p:nvSpPr>
          <p:cNvPr id="11" name="texto">
            <a:extLst xmlns:a="http://schemas.openxmlformats.org/drawingml/2006/main">
              <a:ext uri="{FF2B5EF4-FFF2-40B4-BE49-F238E27FC236}">
                <a16:creationId xmlns:a16="http://schemas.microsoft.com/office/drawing/2014/main" id="{78C9EFD7-5221-412D-AD4E-298797CE4D40}"/>
              </a:ext>
            </a:extLst>
          </p:cNvPr>
          <p:cNvSpPr>
            <a:spLocks xmlns:a="http://schemas.openxmlformats.org/drawingml/2006/main" noGrp="1"/>
          </p:cNvSpPr>
          <p:nvPr/>
        </p:nvSpPr>
        <p:spPr>
          <a:xfrm xmlns:a="http://schemas.openxmlformats.org/drawingml/2006/main">
            <a:off x="8115300" y="3714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D84B3B"/>
                </a:solidFill>
                <a:latin typeface="Helvetica Neue"/>
                <a:ea typeface="Helvetica Neue"/>
                <a:cs typeface="Helvetica Neue"/>
              </a:defRPr>
            </a:pPr>
            <a:r>
              <a:rPr sz="1950" b="0">
                <a:solidFill>
                  <a:srgbClr val="D84B3B"/>
                </a:solidFill>
                <a:latin typeface="Helvetica Neue"/>
                <a:ea typeface="Helvetica Neue"/>
                <a:cs typeface="Helvetica Neue"/>
              </a:rPr>
              <a:t>Un nuevo propósito</a:t>
            </a:r>
          </a:p>
        </p:txBody>
      </p:sp>
      <p:sp>
        <p:nvSpPr>
          <p:cNvPr id="12" name="texto">
            <a:extLst xmlns:a="http://schemas.openxmlformats.org/drawingml/2006/main">
              <a:ext uri="{FF2B5EF4-FFF2-40B4-BE49-F238E27FC236}">
                <a16:creationId xmlns:a16="http://schemas.microsoft.com/office/drawing/2014/main" id="{3D69934E-C3D7-4EEA-8009-519781B8CCE7}"/>
              </a:ext>
            </a:extLst>
          </p:cNvPr>
          <p:cNvSpPr>
            <a:spLocks xmlns:a="http://schemas.openxmlformats.org/drawingml/2006/main" noGrp="1"/>
          </p:cNvSpPr>
          <p:nvPr/>
        </p:nvSpPr>
        <p:spPr>
          <a:xfrm xmlns:a="http://schemas.openxmlformats.org/drawingml/2006/main">
            <a:off x="685800" y="5381625"/>
            <a:ext cx="876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087E83"/>
                </a:solidFill>
                <a:latin typeface="Helvetica Neue"/>
                <a:ea typeface="Helvetica Neue"/>
                <a:cs typeface="Helvetica Neue"/>
              </a:defRPr>
            </a:pPr>
            <a:r>
              <a:rPr sz="1950" b="1">
                <a:solidFill>
                  <a:srgbClr val="087E83"/>
                </a:solidFill>
                <a:latin typeface="Helvetica Neue"/>
                <a:ea typeface="Helvetica Neue"/>
                <a:cs typeface="Helvetica Neue"/>
              </a:rPr>
              <a:t>¿Alex autorizó ese nuevo uso?</a:t>
            </a:r>
          </a:p>
        </p:txBody>
      </p:sp>
    </p:spTree>
    <p:extLst>
      <p:ext uri="{BB962C8B-B14F-4D97-AF65-F5344CB8AC3E}">
        <p14:creationId xmlns:p14="http://schemas.microsoft.com/office/powerpoint/2010/main" val="1154485923"/>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texto">
            <a:extLst xmlns:a="http://schemas.openxmlformats.org/drawingml/2006/main">
              <a:ext uri="{FF2B5EF4-FFF2-40B4-BE49-F238E27FC236}">
                <a16:creationId xmlns:a16="http://schemas.microsoft.com/office/drawing/2014/main" id="{CE25BF1C-5FF1-4E77-8097-E59DB4D31CA5}"/>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10182B"/>
                </a:solidFill>
                <a:latin typeface="Helvetica Neue"/>
                <a:ea typeface="Helvetica Neue"/>
                <a:cs typeface="Helvetica Neue"/>
              </a:defRPr>
            </a:pPr>
            <a:r>
              <a:rPr sz="3750" b="1">
                <a:solidFill>
                  <a:srgbClr val="10182B"/>
                </a:solidFill>
                <a:latin typeface="Helvetica Neue"/>
                <a:ea typeface="Helvetica Neue"/>
                <a:cs typeface="Helvetica Neue"/>
              </a:rPr>
              <a:t>La norma en Perú</a:t>
            </a:r>
          </a:p>
        </p:txBody>
      </p:sp>
      <p:sp>
        <p:nvSpPr>
          <p:cNvPr id="2" name="texto">
            <a:extLst xmlns:a="http://schemas.openxmlformats.org/drawingml/2006/main">
              <a:ext uri="{FF2B5EF4-FFF2-40B4-BE49-F238E27FC236}">
                <a16:creationId xmlns:a16="http://schemas.microsoft.com/office/drawing/2014/main" id="{BDBAAFE6-2923-4514-90A0-82864567CC7D}"/>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566276"/>
                </a:solidFill>
                <a:latin typeface="Helvetica Neue"/>
                <a:ea typeface="Helvetica Neue"/>
                <a:cs typeface="Helvetica Neue"/>
              </a:defRPr>
            </a:pPr>
            <a:r>
              <a:rPr sz="1650" b="0">
                <a:solidFill>
                  <a:srgbClr val="566276"/>
                </a:solidFill>
                <a:latin typeface="Helvetica Neue"/>
                <a:ea typeface="Helvetica Neue"/>
                <a:cs typeface="Helvetica Neue"/>
              </a:rPr>
              <a:t>5</a:t>
            </a:r>
          </a:p>
        </p:txBody>
      </p:sp>
      <p:sp>
        <p:nvSpPr>
          <p:cNvPr id="3" name="texto">
            <a:extLst xmlns:a="http://schemas.openxmlformats.org/drawingml/2006/main">
              <a:ext uri="{FF2B5EF4-FFF2-40B4-BE49-F238E27FC236}">
                <a16:creationId xmlns:a16="http://schemas.microsoft.com/office/drawing/2014/main" id="{FB0A03C4-808D-427E-9A3F-0947BEF53F0D}"/>
              </a:ext>
            </a:extLst>
          </p:cNvPr>
          <p:cNvSpPr>
            <a:spLocks xmlns:a="http://schemas.openxmlformats.org/drawingml/2006/main" noGrp="1"/>
          </p:cNvSpPr>
          <p:nvPr/>
        </p:nvSpPr>
        <p:spPr>
          <a:xfrm xmlns:a="http://schemas.openxmlformats.org/drawingml/2006/main">
            <a:off x="685800" y="180975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950" b="1">
                <a:solidFill>
                  <a:srgbClr val="087E83"/>
                </a:solidFill>
                <a:latin typeface="Helvetica Neue"/>
                <a:ea typeface="Helvetica Neue"/>
                <a:cs typeface="Helvetica Neue"/>
              </a:defRPr>
            </a:pPr>
            <a:r>
              <a:rPr sz="4950" b="1">
                <a:solidFill>
                  <a:srgbClr val="087E83"/>
                </a:solidFill>
                <a:latin typeface="Helvetica Neue"/>
                <a:ea typeface="Helvetica Neue"/>
                <a:cs typeface="Helvetica Neue"/>
              </a:rPr>
              <a:t>Ley N.º 29733</a:t>
            </a:r>
          </a:p>
        </p:txBody>
      </p:sp>
      <p:sp>
        <p:nvSpPr>
          <p:cNvPr id="4" name="texto">
            <a:extLst xmlns:a="http://schemas.openxmlformats.org/drawingml/2006/main">
              <a:ext uri="{FF2B5EF4-FFF2-40B4-BE49-F238E27FC236}">
                <a16:creationId xmlns:a16="http://schemas.microsoft.com/office/drawing/2014/main" id="{E8B0774D-F3A4-4B34-A9AE-2842C1E1FADC}"/>
              </a:ext>
            </a:extLst>
          </p:cNvPr>
          <p:cNvSpPr>
            <a:spLocks xmlns:a="http://schemas.openxmlformats.org/drawingml/2006/main" noGrp="1"/>
          </p:cNvSpPr>
          <p:nvPr/>
        </p:nvSpPr>
        <p:spPr>
          <a:xfrm xmlns:a="http://schemas.openxmlformats.org/drawingml/2006/main">
            <a:off x="723900" y="2676525"/>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0">
                <a:solidFill>
                  <a:srgbClr val="10182B"/>
                </a:solidFill>
                <a:latin typeface="Helvetica Neue"/>
                <a:ea typeface="Helvetica Neue"/>
                <a:cs typeface="Helvetica Neue"/>
              </a:defRPr>
            </a:pPr>
            <a:r>
              <a:rPr sz="2250" b="0">
                <a:solidFill>
                  <a:srgbClr val="10182B"/>
                </a:solidFill>
                <a:latin typeface="Helvetica Neue"/>
                <a:ea typeface="Helvetica Neue"/>
                <a:cs typeface="Helvetica Neue"/>
              </a:rPr>
              <a:t>Protección de Datos Personales</a:t>
            </a:r>
          </a:p>
        </p:txBody>
      </p:sp>
      <p:sp>
        <p:nvSpPr>
          <p:cNvPr id="5" name="texto">
            <a:extLst xmlns:a="http://schemas.openxmlformats.org/drawingml/2006/main">
              <a:ext uri="{FF2B5EF4-FFF2-40B4-BE49-F238E27FC236}">
                <a16:creationId xmlns:a16="http://schemas.microsoft.com/office/drawing/2014/main" id="{2E8F11A7-D66D-4831-B16D-9CC57608EA55}"/>
              </a:ext>
            </a:extLst>
          </p:cNvPr>
          <p:cNvSpPr>
            <a:spLocks xmlns:a="http://schemas.openxmlformats.org/drawingml/2006/main" noGrp="1"/>
          </p:cNvSpPr>
          <p:nvPr/>
        </p:nvSpPr>
        <p:spPr>
          <a:xfrm xmlns:a="http://schemas.openxmlformats.org/drawingml/2006/main">
            <a:off x="685800" y="36195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0182B"/>
                </a:solidFill>
                <a:latin typeface="Helvetica Neue"/>
                <a:ea typeface="Helvetica Neue"/>
                <a:cs typeface="Helvetica Neue"/>
              </a:defRPr>
            </a:pPr>
            <a:r>
              <a:rPr sz="4050" b="1">
                <a:solidFill>
                  <a:srgbClr val="10182B"/>
                </a:solidFill>
                <a:latin typeface="Helvetica Neue"/>
                <a:ea typeface="Helvetica Neue"/>
                <a:cs typeface="Helvetica Neue"/>
              </a:rPr>
              <a:t>D. S. N.º 016-2024-JUS</a:t>
            </a:r>
          </a:p>
        </p:txBody>
      </p:sp>
      <p:sp>
        <p:nvSpPr>
          <p:cNvPr id="6" name="texto">
            <a:extLst xmlns:a="http://schemas.openxmlformats.org/drawingml/2006/main">
              <a:ext uri="{FF2B5EF4-FFF2-40B4-BE49-F238E27FC236}">
                <a16:creationId xmlns:a16="http://schemas.microsoft.com/office/drawing/2014/main" id="{65E2BE23-CCE2-4CE5-8A89-38400DD1CC04}"/>
              </a:ext>
            </a:extLst>
          </p:cNvPr>
          <p:cNvSpPr>
            <a:spLocks xmlns:a="http://schemas.openxmlformats.org/drawingml/2006/main" noGrp="1"/>
          </p:cNvSpPr>
          <p:nvPr/>
        </p:nvSpPr>
        <p:spPr>
          <a:xfrm xmlns:a="http://schemas.openxmlformats.org/drawingml/2006/main">
            <a:off x="723900" y="4572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0">
                <a:solidFill>
                  <a:srgbClr val="D84B3B"/>
                </a:solidFill>
                <a:latin typeface="Helvetica Neue"/>
                <a:ea typeface="Helvetica Neue"/>
                <a:cs typeface="Helvetica Neue"/>
              </a:defRPr>
            </a:pPr>
            <a:r>
              <a:rPr sz="2250" b="0">
                <a:solidFill>
                  <a:srgbClr val="D84B3B"/>
                </a:solidFill>
                <a:latin typeface="Helvetica Neue"/>
                <a:ea typeface="Helvetica Neue"/>
                <a:cs typeface="Helvetica Neue"/>
              </a:rPr>
              <a:t>Reglamento vigente desde el 31 de marzo de 2025</a:t>
            </a:r>
          </a:p>
        </p:txBody>
      </p:sp>
      <p:sp>
        <p:nvSpPr>
          <p:cNvPr id="7" name="texto">
            <a:extLst xmlns:a="http://schemas.openxmlformats.org/drawingml/2006/main">
              <a:ext uri="{FF2B5EF4-FFF2-40B4-BE49-F238E27FC236}">
                <a16:creationId xmlns:a16="http://schemas.microsoft.com/office/drawing/2014/main" id="{BCDAF445-19A1-4DED-96FE-92DF0997517C}"/>
              </a:ext>
            </a:extLst>
          </p:cNvPr>
          <p:cNvSpPr>
            <a:spLocks xmlns:a="http://schemas.openxmlformats.org/drawingml/2006/main" noGrp="1"/>
          </p:cNvSpPr>
          <p:nvPr/>
        </p:nvSpPr>
        <p:spPr>
          <a:xfrm xmlns:a="http://schemas.openxmlformats.org/drawingml/2006/main">
            <a:off x="723900" y="5334000"/>
            <a:ext cx="881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276"/>
                </a:solidFill>
                <a:latin typeface="Helvetica Neue"/>
                <a:ea typeface="Helvetica Neue"/>
                <a:cs typeface="Helvetica Neue"/>
              </a:defRPr>
            </a:pPr>
            <a:r>
              <a:rPr sz="1875" b="0">
                <a:solidFill>
                  <a:srgbClr val="566276"/>
                </a:solidFill>
                <a:latin typeface="Helvetica Neue"/>
                <a:ea typeface="Helvetica Neue"/>
                <a:cs typeface="Helvetica Neue"/>
              </a:rPr>
              <a:t>Sustituyó al D. S. N.º 003-2013-JUS</a:t>
            </a:r>
          </a:p>
        </p:txBody>
      </p:sp>
    </p:spTree>
    <p:extLst>
      <p:ext uri="{BB962C8B-B14F-4D97-AF65-F5344CB8AC3E}">
        <p14:creationId xmlns:p14="http://schemas.microsoft.com/office/powerpoint/2010/main" val="380072733"/>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exto">
            <a:extLst xmlns:a="http://schemas.openxmlformats.org/drawingml/2006/main">
              <a:ext uri="{FF2B5EF4-FFF2-40B4-BE49-F238E27FC236}">
                <a16:creationId xmlns:a16="http://schemas.microsoft.com/office/drawing/2014/main" id="{AAE84ACA-44D6-4F6A-BD79-207402D457C4}"/>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10182B"/>
                </a:solidFill>
                <a:latin typeface="Helvetica Neue"/>
                <a:ea typeface="Helvetica Neue"/>
                <a:cs typeface="Helvetica Neue"/>
              </a:defRPr>
            </a:pPr>
            <a:r>
              <a:rPr sz="3750" b="1">
                <a:solidFill>
                  <a:srgbClr val="10182B"/>
                </a:solidFill>
                <a:latin typeface="Helvetica Neue"/>
                <a:ea typeface="Helvetica Neue"/>
                <a:cs typeface="Helvetica Neue"/>
              </a:rPr>
              <a:t>Cuatro principios del tratamiento</a:t>
            </a:r>
          </a:p>
        </p:txBody>
      </p:sp>
      <p:sp>
        <p:nvSpPr>
          <p:cNvPr id="2" name="texto">
            <a:extLst xmlns:a="http://schemas.openxmlformats.org/drawingml/2006/main">
              <a:ext uri="{FF2B5EF4-FFF2-40B4-BE49-F238E27FC236}">
                <a16:creationId xmlns:a16="http://schemas.microsoft.com/office/drawing/2014/main" id="{6FCBC81B-837F-42C6-A295-2D9A286E1465}"/>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566276"/>
                </a:solidFill>
                <a:latin typeface="Helvetica Neue"/>
                <a:ea typeface="Helvetica Neue"/>
                <a:cs typeface="Helvetica Neue"/>
              </a:defRPr>
            </a:pPr>
            <a:r>
              <a:rPr sz="1650" b="0">
                <a:solidFill>
                  <a:srgbClr val="566276"/>
                </a:solidFill>
                <a:latin typeface="Helvetica Neue"/>
                <a:ea typeface="Helvetica Neue"/>
                <a:cs typeface="Helvetica Neue"/>
              </a:rPr>
              <a:t>6</a:t>
            </a:r>
          </a:p>
        </p:txBody>
      </p:sp>
      <p:sp>
        <p:nvSpPr>
          <p:cNvPr id="3" name="texto">
            <a:extLst xmlns:a="http://schemas.openxmlformats.org/drawingml/2006/main">
              <a:ext uri="{FF2B5EF4-FFF2-40B4-BE49-F238E27FC236}">
                <a16:creationId xmlns:a16="http://schemas.microsoft.com/office/drawing/2014/main" id="{440DF891-060A-40AB-950A-7DA20166CAA0}"/>
              </a:ext>
            </a:extLst>
          </p:cNvPr>
          <p:cNvSpPr>
            <a:spLocks xmlns:a="http://schemas.openxmlformats.org/drawingml/2006/main" noGrp="1"/>
          </p:cNvSpPr>
          <p:nvPr/>
        </p:nvSpPr>
        <p:spPr>
          <a:xfrm xmlns:a="http://schemas.openxmlformats.org/drawingml/2006/main">
            <a:off x="685800" y="1762125"/>
            <a:ext cx="333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Consentimiento</a:t>
            </a:r>
          </a:p>
        </p:txBody>
      </p:sp>
      <p:sp>
        <p:nvSpPr>
          <p:cNvPr id="4" name="texto">
            <a:extLst xmlns:a="http://schemas.openxmlformats.org/drawingml/2006/main">
              <a:ext uri="{FF2B5EF4-FFF2-40B4-BE49-F238E27FC236}">
                <a16:creationId xmlns:a16="http://schemas.microsoft.com/office/drawing/2014/main" id="{C7CDE466-D6EF-41B2-B618-6C60BDCA6492}"/>
              </a:ext>
            </a:extLst>
          </p:cNvPr>
          <p:cNvSpPr>
            <a:spLocks xmlns:a="http://schemas.openxmlformats.org/drawingml/2006/main" noGrp="1"/>
          </p:cNvSpPr>
          <p:nvPr/>
        </p:nvSpPr>
        <p:spPr>
          <a:xfrm xmlns:a="http://schemas.openxmlformats.org/drawingml/2006/main">
            <a:off x="4448175" y="1762125"/>
            <a:ext cx="70580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0182B"/>
                </a:solidFill>
                <a:latin typeface="Helvetica Neue"/>
                <a:ea typeface="Helvetica Neue"/>
                <a:cs typeface="Helvetica Neue"/>
              </a:defRPr>
            </a:pPr>
            <a:r>
              <a:rPr sz="2100" b="0">
                <a:solidFill>
                  <a:srgbClr val="10182B"/>
                </a:solidFill>
                <a:latin typeface="Helvetica Neue"/>
                <a:ea typeface="Helvetica Neue"/>
                <a:cs typeface="Helvetica Neue"/>
              </a:rPr>
              <a:t>Autorización cuando corresponde</a:t>
            </a:r>
          </a:p>
        </p:txBody>
      </p:sp>
      <p:sp>
        <p:nvSpPr>
          <p:cNvPr id="5" name="texto">
            <a:extLst xmlns:a="http://schemas.openxmlformats.org/drawingml/2006/main">
              <a:ext uri="{FF2B5EF4-FFF2-40B4-BE49-F238E27FC236}">
                <a16:creationId xmlns:a16="http://schemas.microsoft.com/office/drawing/2014/main" id="{512AAEAB-1290-4B79-99AF-386B3C1C32B1}"/>
              </a:ext>
            </a:extLst>
          </p:cNvPr>
          <p:cNvSpPr>
            <a:spLocks xmlns:a="http://schemas.openxmlformats.org/drawingml/2006/main" noGrp="1"/>
          </p:cNvSpPr>
          <p:nvPr/>
        </p:nvSpPr>
        <p:spPr>
          <a:xfrm xmlns:a="http://schemas.openxmlformats.org/drawingml/2006/main">
            <a:off x="685800" y="2552700"/>
            <a:ext cx="333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Finalidad</a:t>
            </a:r>
          </a:p>
        </p:txBody>
      </p:sp>
      <p:sp>
        <p:nvSpPr>
          <p:cNvPr id="6" name="texto">
            <a:extLst xmlns:a="http://schemas.openxmlformats.org/drawingml/2006/main">
              <a:ext uri="{FF2B5EF4-FFF2-40B4-BE49-F238E27FC236}">
                <a16:creationId xmlns:a16="http://schemas.microsoft.com/office/drawing/2014/main" id="{C7FEEC27-AF5F-4F33-9613-46926A1B0EB1}"/>
              </a:ext>
            </a:extLst>
          </p:cNvPr>
          <p:cNvSpPr>
            <a:spLocks xmlns:a="http://schemas.openxmlformats.org/drawingml/2006/main" noGrp="1"/>
          </p:cNvSpPr>
          <p:nvPr/>
        </p:nvSpPr>
        <p:spPr>
          <a:xfrm xmlns:a="http://schemas.openxmlformats.org/drawingml/2006/main">
            <a:off x="4448175" y="2552700"/>
            <a:ext cx="70580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0182B"/>
                </a:solidFill>
                <a:latin typeface="Helvetica Neue"/>
                <a:ea typeface="Helvetica Neue"/>
                <a:cs typeface="Helvetica Neue"/>
              </a:defRPr>
            </a:pPr>
            <a:r>
              <a:rPr sz="2100" b="0">
                <a:solidFill>
                  <a:srgbClr val="10182B"/>
                </a:solidFill>
                <a:latin typeface="Helvetica Neue"/>
                <a:ea typeface="Helvetica Neue"/>
                <a:cs typeface="Helvetica Neue"/>
              </a:rPr>
              <a:t>Uso con un propósito definido</a:t>
            </a:r>
          </a:p>
        </p:txBody>
      </p:sp>
      <p:sp>
        <p:nvSpPr>
          <p:cNvPr id="7" name="texto">
            <a:extLst xmlns:a="http://schemas.openxmlformats.org/drawingml/2006/main">
              <a:ext uri="{FF2B5EF4-FFF2-40B4-BE49-F238E27FC236}">
                <a16:creationId xmlns:a16="http://schemas.microsoft.com/office/drawing/2014/main" id="{276BEEA0-BAD6-4525-B055-CCCF9FD61C5B}"/>
              </a:ext>
            </a:extLst>
          </p:cNvPr>
          <p:cNvSpPr>
            <a:spLocks xmlns:a="http://schemas.openxmlformats.org/drawingml/2006/main" noGrp="1"/>
          </p:cNvSpPr>
          <p:nvPr/>
        </p:nvSpPr>
        <p:spPr>
          <a:xfrm xmlns:a="http://schemas.openxmlformats.org/drawingml/2006/main">
            <a:off x="685800" y="3343275"/>
            <a:ext cx="333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Proporcionalidad</a:t>
            </a:r>
          </a:p>
        </p:txBody>
      </p:sp>
      <p:sp>
        <p:nvSpPr>
          <p:cNvPr id="8" name="texto">
            <a:extLst xmlns:a="http://schemas.openxmlformats.org/drawingml/2006/main">
              <a:ext uri="{FF2B5EF4-FFF2-40B4-BE49-F238E27FC236}">
                <a16:creationId xmlns:a16="http://schemas.microsoft.com/office/drawing/2014/main" id="{4363A180-638D-4D47-8D08-2C88265A5FAE}"/>
              </a:ext>
            </a:extLst>
          </p:cNvPr>
          <p:cNvSpPr>
            <a:spLocks xmlns:a="http://schemas.openxmlformats.org/drawingml/2006/main" noGrp="1"/>
          </p:cNvSpPr>
          <p:nvPr/>
        </p:nvSpPr>
        <p:spPr>
          <a:xfrm xmlns:a="http://schemas.openxmlformats.org/drawingml/2006/main">
            <a:off x="4448175" y="3343275"/>
            <a:ext cx="70580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0182B"/>
                </a:solidFill>
                <a:latin typeface="Helvetica Neue"/>
                <a:ea typeface="Helvetica Neue"/>
                <a:cs typeface="Helvetica Neue"/>
              </a:defRPr>
            </a:pPr>
            <a:r>
              <a:rPr sz="2100" b="0">
                <a:solidFill>
                  <a:srgbClr val="10182B"/>
                </a:solidFill>
                <a:latin typeface="Helvetica Neue"/>
                <a:ea typeface="Helvetica Neue"/>
                <a:cs typeface="Helvetica Neue"/>
              </a:rPr>
              <a:t>Solo los datos necesarios</a:t>
            </a:r>
          </a:p>
        </p:txBody>
      </p:sp>
      <p:sp>
        <p:nvSpPr>
          <p:cNvPr id="9" name="texto">
            <a:extLst xmlns:a="http://schemas.openxmlformats.org/drawingml/2006/main">
              <a:ext uri="{FF2B5EF4-FFF2-40B4-BE49-F238E27FC236}">
                <a16:creationId xmlns:a16="http://schemas.microsoft.com/office/drawing/2014/main" id="{F675275F-B4E8-4689-BB84-0A6D3AD3FA5E}"/>
              </a:ext>
            </a:extLst>
          </p:cNvPr>
          <p:cNvSpPr>
            <a:spLocks xmlns:a="http://schemas.openxmlformats.org/drawingml/2006/main" noGrp="1"/>
          </p:cNvSpPr>
          <p:nvPr/>
        </p:nvSpPr>
        <p:spPr>
          <a:xfrm xmlns:a="http://schemas.openxmlformats.org/drawingml/2006/main">
            <a:off x="685800" y="4133850"/>
            <a:ext cx="333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Seguridad</a:t>
            </a:r>
          </a:p>
        </p:txBody>
      </p:sp>
      <p:sp>
        <p:nvSpPr>
          <p:cNvPr id="10" name="texto">
            <a:extLst xmlns:a="http://schemas.openxmlformats.org/drawingml/2006/main">
              <a:ext uri="{FF2B5EF4-FFF2-40B4-BE49-F238E27FC236}">
                <a16:creationId xmlns:a16="http://schemas.microsoft.com/office/drawing/2014/main" id="{EB4B87CB-AB90-4D07-B056-04A66AAA684A}"/>
              </a:ext>
            </a:extLst>
          </p:cNvPr>
          <p:cNvSpPr>
            <a:spLocks xmlns:a="http://schemas.openxmlformats.org/drawingml/2006/main" noGrp="1"/>
          </p:cNvSpPr>
          <p:nvPr/>
        </p:nvSpPr>
        <p:spPr>
          <a:xfrm xmlns:a="http://schemas.openxmlformats.org/drawingml/2006/main">
            <a:off x="4448175" y="4133850"/>
            <a:ext cx="70580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0182B"/>
                </a:solidFill>
                <a:latin typeface="Helvetica Neue"/>
                <a:ea typeface="Helvetica Neue"/>
                <a:cs typeface="Helvetica Neue"/>
              </a:defRPr>
            </a:pPr>
            <a:r>
              <a:rPr sz="2100" b="0">
                <a:solidFill>
                  <a:srgbClr val="10182B"/>
                </a:solidFill>
                <a:latin typeface="Helvetica Neue"/>
                <a:ea typeface="Helvetica Neue"/>
                <a:cs typeface="Helvetica Neue"/>
              </a:rPr>
              <a:t>Medidas para protegerlos</a:t>
            </a:r>
          </a:p>
        </p:txBody>
      </p:sp>
      <p:sp>
        <p:nvSpPr>
          <p:cNvPr id="11" name="texto">
            <a:extLst xmlns:a="http://schemas.openxmlformats.org/drawingml/2006/main">
              <a:ext uri="{FF2B5EF4-FFF2-40B4-BE49-F238E27FC236}">
                <a16:creationId xmlns:a16="http://schemas.microsoft.com/office/drawing/2014/main" id="{B0D6F5BA-60B8-45D5-AE6A-F1E851CF885B}"/>
              </a:ext>
            </a:extLst>
          </p:cNvPr>
          <p:cNvSpPr>
            <a:spLocks xmlns:a="http://schemas.openxmlformats.org/drawingml/2006/main" noGrp="1"/>
          </p:cNvSpPr>
          <p:nvPr/>
        </p:nvSpPr>
        <p:spPr>
          <a:xfrm xmlns:a="http://schemas.openxmlformats.org/drawingml/2006/main">
            <a:off x="685800" y="5381625"/>
            <a:ext cx="876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087E83"/>
                </a:solidFill>
                <a:latin typeface="Helvetica Neue"/>
                <a:ea typeface="Helvetica Neue"/>
                <a:cs typeface="Helvetica Neue"/>
              </a:defRPr>
            </a:pPr>
            <a:r>
              <a:rPr sz="1950" b="0">
                <a:solidFill>
                  <a:srgbClr val="087E83"/>
                </a:solidFill>
                <a:latin typeface="Helvetica Neue"/>
                <a:ea typeface="Helvetica Neue"/>
                <a:cs typeface="Helvetica Neue"/>
              </a:rPr>
              <a:t>La ley también exige legalidad, calidad y otros principios</a:t>
            </a:r>
          </a:p>
        </p:txBody>
      </p:sp>
    </p:spTree>
    <p:extLst>
      <p:ext uri="{BB962C8B-B14F-4D97-AF65-F5344CB8AC3E}">
        <p14:creationId xmlns:p14="http://schemas.microsoft.com/office/powerpoint/2010/main" val="2099433309"/>
      </p:ext>
    </p:extLst>
  </p:cSld>
</p:sld>
</file>

<file path=ppt/slides/slide7.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2" name="texto">
            <a:extLst xmlns:a="http://schemas.openxmlformats.org/drawingml/2006/main">
              <a:ext uri="{FF2B5EF4-FFF2-40B4-BE49-F238E27FC236}">
                <a16:creationId xmlns:a16="http://schemas.microsoft.com/office/drawing/2014/main" id="{5263B099-A035-406B-9C11-BBAE239C4DBD}"/>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F5F1E8"/>
                </a:solidFill>
                <a:latin typeface="Helvetica Neue"/>
                <a:ea typeface="Helvetica Neue"/>
                <a:cs typeface="Helvetica Neue"/>
              </a:defRPr>
            </a:pPr>
            <a:r>
              <a:rPr sz="3750" b="1">
                <a:solidFill>
                  <a:srgbClr val="F5F1E8"/>
                </a:solidFill>
                <a:latin typeface="Helvetica Neue"/>
                <a:ea typeface="Helvetica Neue"/>
                <a:cs typeface="Helvetica Neue"/>
              </a:rPr>
              <a:t>Un consentimiento válido</a:t>
            </a:r>
          </a:p>
        </p:txBody>
      </p:sp>
      <p:sp>
        <p:nvSpPr>
          <p:cNvPr id="2" name="texto">
            <a:extLst xmlns:a="http://schemas.openxmlformats.org/drawingml/2006/main">
              <a:ext uri="{FF2B5EF4-FFF2-40B4-BE49-F238E27FC236}">
                <a16:creationId xmlns:a16="http://schemas.microsoft.com/office/drawing/2014/main" id="{F77F002D-388E-4F5C-B21B-0D75797D8C36}"/>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B4C1D4"/>
                </a:solidFill>
                <a:latin typeface="Helvetica Neue"/>
                <a:ea typeface="Helvetica Neue"/>
                <a:cs typeface="Helvetica Neue"/>
              </a:defRPr>
            </a:pPr>
            <a:r>
              <a:rPr sz="1650" b="0">
                <a:solidFill>
                  <a:srgbClr val="B4C1D4"/>
                </a:solidFill>
                <a:latin typeface="Helvetica Neue"/>
                <a:ea typeface="Helvetica Neue"/>
                <a:cs typeface="Helvetica Neue"/>
              </a:rPr>
              <a:t>7</a:t>
            </a:r>
          </a:p>
        </p:txBody>
      </p:sp>
      <p:sp>
        <p:nvSpPr>
          <p:cNvPr id="3" name="texto">
            <a:extLst xmlns:a="http://schemas.openxmlformats.org/drawingml/2006/main">
              <a:ext uri="{FF2B5EF4-FFF2-40B4-BE49-F238E27FC236}">
                <a16:creationId xmlns:a16="http://schemas.microsoft.com/office/drawing/2014/main" id="{A2A12B8C-17A7-4BB1-BF2A-980678E0EFDF}"/>
              </a:ext>
            </a:extLst>
          </p:cNvPr>
          <p:cNvSpPr>
            <a:spLocks xmlns:a="http://schemas.openxmlformats.org/drawingml/2006/main" noGrp="1"/>
          </p:cNvSpPr>
          <p:nvPr/>
        </p:nvSpPr>
        <p:spPr>
          <a:xfrm xmlns:a="http://schemas.openxmlformats.org/drawingml/2006/main">
            <a:off x="685800" y="17145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75DDD5"/>
                </a:solidFill>
                <a:latin typeface="Helvetica Neue"/>
                <a:ea typeface="Helvetica Neue"/>
                <a:cs typeface="Helvetica Neue"/>
              </a:defRPr>
            </a:pPr>
            <a:r>
              <a:rPr sz="2850" b="1">
                <a:solidFill>
                  <a:srgbClr val="75DDD5"/>
                </a:solidFill>
                <a:latin typeface="Helvetica Neue"/>
                <a:ea typeface="Helvetica Neue"/>
                <a:cs typeface="Helvetica Neue"/>
              </a:rPr>
              <a:t>01</a:t>
            </a:r>
          </a:p>
        </p:txBody>
      </p:sp>
      <p:sp>
        <p:nvSpPr>
          <p:cNvPr id="4" name="texto">
            <a:extLst xmlns:a="http://schemas.openxmlformats.org/drawingml/2006/main">
              <a:ext uri="{FF2B5EF4-FFF2-40B4-BE49-F238E27FC236}">
                <a16:creationId xmlns:a16="http://schemas.microsoft.com/office/drawing/2014/main" id="{6587539A-A4DA-44AB-A15D-6891FAFF172D}"/>
              </a:ext>
            </a:extLst>
          </p:cNvPr>
          <p:cNvSpPr>
            <a:spLocks xmlns:a="http://schemas.openxmlformats.org/drawingml/2006/main" noGrp="1"/>
          </p:cNvSpPr>
          <p:nvPr/>
        </p:nvSpPr>
        <p:spPr>
          <a:xfrm xmlns:a="http://schemas.openxmlformats.org/drawingml/2006/main">
            <a:off x="1809750" y="1714500"/>
            <a:ext cx="909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5F1E8"/>
                </a:solidFill>
                <a:latin typeface="Helvetica Neue"/>
                <a:ea typeface="Helvetica Neue"/>
                <a:cs typeface="Helvetica Neue"/>
              </a:defRPr>
            </a:pPr>
            <a:r>
              <a:rPr sz="3000" b="0">
                <a:solidFill>
                  <a:srgbClr val="F5F1E8"/>
                </a:solidFill>
                <a:latin typeface="Helvetica Neue"/>
                <a:ea typeface="Helvetica Neue"/>
                <a:cs typeface="Helvetica Neue"/>
              </a:rPr>
              <a:t>Libre</a:t>
            </a:r>
          </a:p>
        </p:txBody>
      </p:sp>
      <p:sp>
        <p:nvSpPr>
          <p:cNvPr id="5" name="texto">
            <a:extLst xmlns:a="http://schemas.openxmlformats.org/drawingml/2006/main">
              <a:ext uri="{FF2B5EF4-FFF2-40B4-BE49-F238E27FC236}">
                <a16:creationId xmlns:a16="http://schemas.microsoft.com/office/drawing/2014/main" id="{0E932D64-E543-4740-AB5D-0B5F6427AE10}"/>
              </a:ext>
            </a:extLst>
          </p:cNvPr>
          <p:cNvSpPr>
            <a:spLocks xmlns:a="http://schemas.openxmlformats.org/drawingml/2006/main" noGrp="1"/>
          </p:cNvSpPr>
          <p:nvPr/>
        </p:nvSpPr>
        <p:spPr>
          <a:xfrm xmlns:a="http://schemas.openxmlformats.org/drawingml/2006/main">
            <a:off x="685800" y="253365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75DDD5"/>
                </a:solidFill>
                <a:latin typeface="Helvetica Neue"/>
                <a:ea typeface="Helvetica Neue"/>
                <a:cs typeface="Helvetica Neue"/>
              </a:defRPr>
            </a:pPr>
            <a:r>
              <a:rPr sz="2850" b="1">
                <a:solidFill>
                  <a:srgbClr val="75DDD5"/>
                </a:solidFill>
                <a:latin typeface="Helvetica Neue"/>
                <a:ea typeface="Helvetica Neue"/>
                <a:cs typeface="Helvetica Neue"/>
              </a:rPr>
              <a:t>02</a:t>
            </a:r>
          </a:p>
        </p:txBody>
      </p:sp>
      <p:sp>
        <p:nvSpPr>
          <p:cNvPr id="6" name="texto">
            <a:extLst xmlns:a="http://schemas.openxmlformats.org/drawingml/2006/main">
              <a:ext uri="{FF2B5EF4-FFF2-40B4-BE49-F238E27FC236}">
                <a16:creationId xmlns:a16="http://schemas.microsoft.com/office/drawing/2014/main" id="{5F10D8CF-33E0-40E5-92B4-93AE195070F8}"/>
              </a:ext>
            </a:extLst>
          </p:cNvPr>
          <p:cNvSpPr>
            <a:spLocks xmlns:a="http://schemas.openxmlformats.org/drawingml/2006/main" noGrp="1"/>
          </p:cNvSpPr>
          <p:nvPr/>
        </p:nvSpPr>
        <p:spPr>
          <a:xfrm xmlns:a="http://schemas.openxmlformats.org/drawingml/2006/main">
            <a:off x="1809750" y="2533650"/>
            <a:ext cx="909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5F1E8"/>
                </a:solidFill>
                <a:latin typeface="Helvetica Neue"/>
                <a:ea typeface="Helvetica Neue"/>
                <a:cs typeface="Helvetica Neue"/>
              </a:defRPr>
            </a:pPr>
            <a:r>
              <a:rPr sz="3000" b="0">
                <a:solidFill>
                  <a:srgbClr val="F5F1E8"/>
                </a:solidFill>
                <a:latin typeface="Helvetica Neue"/>
                <a:ea typeface="Helvetica Neue"/>
                <a:cs typeface="Helvetica Neue"/>
              </a:rPr>
              <a:t>Previo</a:t>
            </a:r>
          </a:p>
        </p:txBody>
      </p:sp>
      <p:sp>
        <p:nvSpPr>
          <p:cNvPr id="7" name="texto">
            <a:extLst xmlns:a="http://schemas.openxmlformats.org/drawingml/2006/main">
              <a:ext uri="{FF2B5EF4-FFF2-40B4-BE49-F238E27FC236}">
                <a16:creationId xmlns:a16="http://schemas.microsoft.com/office/drawing/2014/main" id="{5A74A46A-764C-4254-AF90-4AF680C3D25D}"/>
              </a:ext>
            </a:extLst>
          </p:cNvPr>
          <p:cNvSpPr>
            <a:spLocks xmlns:a="http://schemas.openxmlformats.org/drawingml/2006/main" noGrp="1"/>
          </p:cNvSpPr>
          <p:nvPr/>
        </p:nvSpPr>
        <p:spPr>
          <a:xfrm xmlns:a="http://schemas.openxmlformats.org/drawingml/2006/main">
            <a:off x="685800" y="33528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75DDD5"/>
                </a:solidFill>
                <a:latin typeface="Helvetica Neue"/>
                <a:ea typeface="Helvetica Neue"/>
                <a:cs typeface="Helvetica Neue"/>
              </a:defRPr>
            </a:pPr>
            <a:r>
              <a:rPr sz="2850" b="1">
                <a:solidFill>
                  <a:srgbClr val="75DDD5"/>
                </a:solidFill>
                <a:latin typeface="Helvetica Neue"/>
                <a:ea typeface="Helvetica Neue"/>
                <a:cs typeface="Helvetica Neue"/>
              </a:rPr>
              <a:t>03</a:t>
            </a:r>
          </a:p>
        </p:txBody>
      </p:sp>
      <p:sp>
        <p:nvSpPr>
          <p:cNvPr id="8" name="texto">
            <a:extLst xmlns:a="http://schemas.openxmlformats.org/drawingml/2006/main">
              <a:ext uri="{FF2B5EF4-FFF2-40B4-BE49-F238E27FC236}">
                <a16:creationId xmlns:a16="http://schemas.microsoft.com/office/drawing/2014/main" id="{44D22D63-00FC-4037-B212-4FCEE5194B9C}"/>
              </a:ext>
            </a:extLst>
          </p:cNvPr>
          <p:cNvSpPr>
            <a:spLocks xmlns:a="http://schemas.openxmlformats.org/drawingml/2006/main" noGrp="1"/>
          </p:cNvSpPr>
          <p:nvPr/>
        </p:nvSpPr>
        <p:spPr>
          <a:xfrm xmlns:a="http://schemas.openxmlformats.org/drawingml/2006/main">
            <a:off x="1809750" y="3352800"/>
            <a:ext cx="909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5F1E8"/>
                </a:solidFill>
                <a:latin typeface="Helvetica Neue"/>
                <a:ea typeface="Helvetica Neue"/>
                <a:cs typeface="Helvetica Neue"/>
              </a:defRPr>
            </a:pPr>
            <a:r>
              <a:rPr sz="3000" b="0">
                <a:solidFill>
                  <a:srgbClr val="F5F1E8"/>
                </a:solidFill>
                <a:latin typeface="Helvetica Neue"/>
                <a:ea typeface="Helvetica Neue"/>
                <a:cs typeface="Helvetica Neue"/>
              </a:rPr>
              <a:t>Expreso e inequívoco</a:t>
            </a:r>
          </a:p>
        </p:txBody>
      </p:sp>
      <p:sp>
        <p:nvSpPr>
          <p:cNvPr id="9" name="texto">
            <a:extLst xmlns:a="http://schemas.openxmlformats.org/drawingml/2006/main">
              <a:ext uri="{FF2B5EF4-FFF2-40B4-BE49-F238E27FC236}">
                <a16:creationId xmlns:a16="http://schemas.microsoft.com/office/drawing/2014/main" id="{A0B9ADDE-792A-4ED9-8FF9-3606755D3F7D}"/>
              </a:ext>
            </a:extLst>
          </p:cNvPr>
          <p:cNvSpPr>
            <a:spLocks xmlns:a="http://schemas.openxmlformats.org/drawingml/2006/main" noGrp="1"/>
          </p:cNvSpPr>
          <p:nvPr/>
        </p:nvSpPr>
        <p:spPr>
          <a:xfrm xmlns:a="http://schemas.openxmlformats.org/drawingml/2006/main">
            <a:off x="685800" y="417195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75DDD5"/>
                </a:solidFill>
                <a:latin typeface="Helvetica Neue"/>
                <a:ea typeface="Helvetica Neue"/>
                <a:cs typeface="Helvetica Neue"/>
              </a:defRPr>
            </a:pPr>
            <a:r>
              <a:rPr sz="2850" b="1">
                <a:solidFill>
                  <a:srgbClr val="75DDD5"/>
                </a:solidFill>
                <a:latin typeface="Helvetica Neue"/>
                <a:ea typeface="Helvetica Neue"/>
                <a:cs typeface="Helvetica Neue"/>
              </a:rPr>
              <a:t>04</a:t>
            </a:r>
          </a:p>
        </p:txBody>
      </p:sp>
      <p:sp>
        <p:nvSpPr>
          <p:cNvPr id="10" name="texto">
            <a:extLst xmlns:a="http://schemas.openxmlformats.org/drawingml/2006/main">
              <a:ext uri="{FF2B5EF4-FFF2-40B4-BE49-F238E27FC236}">
                <a16:creationId xmlns:a16="http://schemas.microsoft.com/office/drawing/2014/main" id="{E183EC98-2B0C-4E34-AB5A-D48C564BA5B6}"/>
              </a:ext>
            </a:extLst>
          </p:cNvPr>
          <p:cNvSpPr>
            <a:spLocks xmlns:a="http://schemas.openxmlformats.org/drawingml/2006/main" noGrp="1"/>
          </p:cNvSpPr>
          <p:nvPr/>
        </p:nvSpPr>
        <p:spPr>
          <a:xfrm xmlns:a="http://schemas.openxmlformats.org/drawingml/2006/main">
            <a:off x="1809750" y="4171950"/>
            <a:ext cx="909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5F1E8"/>
                </a:solidFill>
                <a:latin typeface="Helvetica Neue"/>
                <a:ea typeface="Helvetica Neue"/>
                <a:cs typeface="Helvetica Neue"/>
              </a:defRPr>
            </a:pPr>
            <a:r>
              <a:rPr sz="3000" b="0">
                <a:solidFill>
                  <a:srgbClr val="F5F1E8"/>
                </a:solidFill>
                <a:latin typeface="Helvetica Neue"/>
                <a:ea typeface="Helvetica Neue"/>
                <a:cs typeface="Helvetica Neue"/>
              </a:rPr>
              <a:t>Informado</a:t>
            </a:r>
          </a:p>
        </p:txBody>
      </p:sp>
      <p:sp>
        <p:nvSpPr>
          <p:cNvPr id="11" name="texto">
            <a:extLst xmlns:a="http://schemas.openxmlformats.org/drawingml/2006/main">
              <a:ext uri="{FF2B5EF4-FFF2-40B4-BE49-F238E27FC236}">
                <a16:creationId xmlns:a16="http://schemas.microsoft.com/office/drawing/2014/main" id="{53336FB8-D551-43D7-B9F9-43836B766E46}"/>
              </a:ext>
            </a:extLst>
          </p:cNvPr>
          <p:cNvSpPr>
            <a:spLocks xmlns:a="http://schemas.openxmlformats.org/drawingml/2006/main" noGrp="1"/>
          </p:cNvSpPr>
          <p:nvPr/>
        </p:nvSpPr>
        <p:spPr>
          <a:xfrm xmlns:a="http://schemas.openxmlformats.org/drawingml/2006/main">
            <a:off x="685800" y="5381625"/>
            <a:ext cx="876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75DDD5"/>
                </a:solidFill>
                <a:latin typeface="Helvetica Neue"/>
                <a:ea typeface="Helvetica Neue"/>
                <a:cs typeface="Helvetica Neue"/>
              </a:defRPr>
            </a:pPr>
            <a:r>
              <a:rPr sz="1950" b="1">
                <a:solidFill>
                  <a:srgbClr val="75DDD5"/>
                </a:solidFill>
                <a:latin typeface="Helvetica Neue"/>
                <a:ea typeface="Helvetica Neue"/>
                <a:cs typeface="Helvetica Neue"/>
              </a:rPr>
              <a:t>La ley contempla excepciones al consentimiento</a:t>
            </a:r>
          </a:p>
        </p:txBody>
      </p:sp>
    </p:spTree>
    <p:extLst>
      <p:ext uri="{BB962C8B-B14F-4D97-AF65-F5344CB8AC3E}">
        <p14:creationId xmlns:p14="http://schemas.microsoft.com/office/powerpoint/2010/main" val="399685368"/>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texto">
            <a:extLst xmlns:a="http://schemas.openxmlformats.org/drawingml/2006/main">
              <a:ext uri="{FF2B5EF4-FFF2-40B4-BE49-F238E27FC236}">
                <a16:creationId xmlns:a16="http://schemas.microsoft.com/office/drawing/2014/main" id="{C22E95E2-CDDE-4CF8-8157-D81F9368255F}"/>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10182B"/>
                </a:solidFill>
                <a:latin typeface="Helvetica Neue"/>
                <a:ea typeface="Helvetica Neue"/>
                <a:cs typeface="Helvetica Neue"/>
              </a:defRPr>
            </a:pPr>
            <a:r>
              <a:rPr sz="3750" b="1">
                <a:solidFill>
                  <a:srgbClr val="10182B"/>
                </a:solidFill>
                <a:latin typeface="Helvetica Neue"/>
                <a:ea typeface="Helvetica Neue"/>
                <a:cs typeface="Helvetica Neue"/>
              </a:rPr>
              <a:t>Una finalidad adicional</a:t>
            </a:r>
          </a:p>
        </p:txBody>
      </p:sp>
      <p:sp>
        <p:nvSpPr>
          <p:cNvPr id="2" name="texto">
            <a:extLst xmlns:a="http://schemas.openxmlformats.org/drawingml/2006/main">
              <a:ext uri="{FF2B5EF4-FFF2-40B4-BE49-F238E27FC236}">
                <a16:creationId xmlns:a16="http://schemas.microsoft.com/office/drawing/2014/main" id="{9F6FB301-5ED8-4072-B0CD-CD44283DECE4}"/>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566276"/>
                </a:solidFill>
                <a:latin typeface="Helvetica Neue"/>
                <a:ea typeface="Helvetica Neue"/>
                <a:cs typeface="Helvetica Neue"/>
              </a:defRPr>
            </a:pPr>
            <a:r>
              <a:rPr sz="1650" b="0">
                <a:solidFill>
                  <a:srgbClr val="566276"/>
                </a:solidFill>
                <a:latin typeface="Helvetica Neue"/>
                <a:ea typeface="Helvetica Neue"/>
                <a:cs typeface="Helvetica Neue"/>
              </a:rPr>
              <a:t>8</a:t>
            </a:r>
          </a:p>
        </p:txBody>
      </p:sp>
      <p:sp>
        <p:nvSpPr>
          <p:cNvPr id="3" name="texto">
            <a:extLst xmlns:a="http://schemas.openxmlformats.org/drawingml/2006/main">
              <a:ext uri="{FF2B5EF4-FFF2-40B4-BE49-F238E27FC236}">
                <a16:creationId xmlns:a16="http://schemas.microsoft.com/office/drawing/2014/main" id="{6A6CE703-2660-4D94-9833-5DB531FC012A}"/>
              </a:ext>
            </a:extLst>
          </p:cNvPr>
          <p:cNvSpPr>
            <a:spLocks xmlns:a="http://schemas.openxmlformats.org/drawingml/2006/main" noGrp="1"/>
          </p:cNvSpPr>
          <p:nvPr/>
        </p:nvSpPr>
        <p:spPr>
          <a:xfrm xmlns:a="http://schemas.openxmlformats.org/drawingml/2006/main">
            <a:off x="685800" y="1952625"/>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600" b="1">
                <a:solidFill>
                  <a:srgbClr val="10182B"/>
                </a:solidFill>
                <a:latin typeface="Helvetica Neue"/>
                <a:ea typeface="Helvetica Neue"/>
                <a:cs typeface="Helvetica Neue"/>
              </a:defRPr>
            </a:pPr>
            <a:r>
              <a:rPr sz="3600" b="1">
                <a:solidFill>
                  <a:srgbClr val="10182B"/>
                </a:solidFill>
                <a:latin typeface="Helvetica Neue"/>
                <a:ea typeface="Helvetica Neue"/>
                <a:cs typeface="Helvetica Neue"/>
              </a:rPr>
              <a:t>«También usaremos tu celular</a:t>
            </a:r>
          </a:p>
          <a:p xmlns:a="http://schemas.openxmlformats.org/drawingml/2006/main">
            <a:pPr algn="l">
              <a:defRPr sz="3600" b="1">
                <a:solidFill>
                  <a:srgbClr val="10182B"/>
                </a:solidFill>
                <a:latin typeface="Helvetica Neue"/>
                <a:ea typeface="Helvetica Neue"/>
                <a:cs typeface="Helvetica Neue"/>
              </a:defRPr>
            </a:pPr>
            <a:r>
              <a:rPr sz="3600" b="1">
                <a:solidFill>
                  <a:srgbClr val="10182B"/>
                </a:solidFill>
                <a:latin typeface="Helvetica Neue"/>
                <a:ea typeface="Helvetica Neue"/>
                <a:cs typeface="Helvetica Neue"/>
              </a:rPr>
              <a:t>para enviarte promociones»</a:t>
            </a:r>
          </a:p>
        </p:txBody>
      </p:sp>
      <p:sp>
        <p:nvSpPr>
          <p:cNvPr id="4" name="texto">
            <a:extLst xmlns:a="http://schemas.openxmlformats.org/drawingml/2006/main">
              <a:ext uri="{FF2B5EF4-FFF2-40B4-BE49-F238E27FC236}">
                <a16:creationId xmlns:a16="http://schemas.microsoft.com/office/drawing/2014/main" id="{9C964809-072D-42E2-A789-399EB1638AF3}"/>
              </a:ext>
            </a:extLst>
          </p:cNvPr>
          <p:cNvSpPr>
            <a:spLocks xmlns:a="http://schemas.openxmlformats.org/drawingml/2006/main" noGrp="1"/>
          </p:cNvSpPr>
          <p:nvPr/>
        </p:nvSpPr>
        <p:spPr>
          <a:xfrm xmlns:a="http://schemas.openxmlformats.org/drawingml/2006/main">
            <a:off x="685800" y="40195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84B3B"/>
                </a:solidFill>
                <a:latin typeface="Helvetica Neue"/>
                <a:ea typeface="Helvetica Neue"/>
                <a:cs typeface="Helvetica Neue"/>
              </a:defRPr>
            </a:pPr>
            <a:r>
              <a:rPr sz="2700" b="1">
                <a:solidFill>
                  <a:srgbClr val="D84B3B"/>
                </a:solidFill>
                <a:latin typeface="Helvetica Neue"/>
                <a:ea typeface="Helvetica Neue"/>
                <a:cs typeface="Helvetica Neue"/>
              </a:rPr>
              <a:t>¿Qué información falta?</a:t>
            </a:r>
          </a:p>
        </p:txBody>
      </p:sp>
      <p:sp>
        <p:nvSpPr>
          <p:cNvPr id="5" name="texto">
            <a:extLst xmlns:a="http://schemas.openxmlformats.org/drawingml/2006/main">
              <a:ext uri="{FF2B5EF4-FFF2-40B4-BE49-F238E27FC236}">
                <a16:creationId xmlns:a16="http://schemas.microsoft.com/office/drawing/2014/main" id="{C189A794-46BF-4D6B-8431-3AE9C5738B7C}"/>
              </a:ext>
            </a:extLst>
          </p:cNvPr>
          <p:cNvSpPr>
            <a:spLocks xmlns:a="http://schemas.openxmlformats.org/drawingml/2006/main" noGrp="1"/>
          </p:cNvSpPr>
          <p:nvPr/>
        </p:nvSpPr>
        <p:spPr>
          <a:xfrm xmlns:a="http://schemas.openxmlformats.org/drawingml/2006/main">
            <a:off x="685800" y="5381625"/>
            <a:ext cx="876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087E83"/>
                </a:solidFill>
                <a:latin typeface="Helvetica Neue"/>
                <a:ea typeface="Helvetica Neue"/>
                <a:cs typeface="Helvetica Neue"/>
              </a:defRPr>
            </a:pPr>
            <a:r>
              <a:rPr sz="1950" b="1">
                <a:solidFill>
                  <a:srgbClr val="087E83"/>
                </a:solidFill>
                <a:latin typeface="Helvetica Neue"/>
                <a:ea typeface="Helvetica Neue"/>
                <a:cs typeface="Helvetica Neue"/>
              </a:rPr>
              <a:t>Participar en el sorteo y recibir publicidad son usos distintos</a:t>
            </a:r>
          </a:p>
        </p:txBody>
      </p:sp>
    </p:spTree>
    <p:extLst>
      <p:ext uri="{BB962C8B-B14F-4D97-AF65-F5344CB8AC3E}">
        <p14:creationId xmlns:p14="http://schemas.microsoft.com/office/powerpoint/2010/main" val="1306585165"/>
      </p:ext>
    </p:extLst>
  </p:cSld>
</p:sld>
</file>

<file path=ppt/slides/slide9.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6" name="texto">
            <a:extLst xmlns:a="http://schemas.openxmlformats.org/drawingml/2006/main">
              <a:ext uri="{FF2B5EF4-FFF2-40B4-BE49-F238E27FC236}">
                <a16:creationId xmlns:a16="http://schemas.microsoft.com/office/drawing/2014/main" id="{77E58BAA-5A03-4A18-9B44-E98FDABB9433}"/>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F5F1E8"/>
                </a:solidFill>
                <a:latin typeface="Helvetica Neue"/>
                <a:ea typeface="Helvetica Neue"/>
                <a:cs typeface="Helvetica Neue"/>
              </a:defRPr>
            </a:pPr>
            <a:r>
              <a:rPr sz="3750" b="1">
                <a:solidFill>
                  <a:srgbClr val="F5F1E8"/>
                </a:solidFill>
                <a:latin typeface="Helvetica Neue"/>
                <a:ea typeface="Helvetica Neue"/>
                <a:cs typeface="Helvetica Neue"/>
              </a:rPr>
              <a:t>Tus derechos ARCO</a:t>
            </a:r>
          </a:p>
        </p:txBody>
      </p:sp>
      <p:sp>
        <p:nvSpPr>
          <p:cNvPr id="2" name="texto">
            <a:extLst xmlns:a="http://schemas.openxmlformats.org/drawingml/2006/main">
              <a:ext uri="{FF2B5EF4-FFF2-40B4-BE49-F238E27FC236}">
                <a16:creationId xmlns:a16="http://schemas.microsoft.com/office/drawing/2014/main" id="{B05060F7-709F-488B-8068-2049BCB36159}"/>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B4C1D4"/>
                </a:solidFill>
                <a:latin typeface="Helvetica Neue"/>
                <a:ea typeface="Helvetica Neue"/>
                <a:cs typeface="Helvetica Neue"/>
              </a:defRPr>
            </a:pPr>
            <a:r>
              <a:rPr sz="1650" b="0">
                <a:solidFill>
                  <a:srgbClr val="B4C1D4"/>
                </a:solidFill>
                <a:latin typeface="Helvetica Neue"/>
                <a:ea typeface="Helvetica Neue"/>
                <a:cs typeface="Helvetica Neue"/>
              </a:rPr>
              <a:t>9</a:t>
            </a:r>
          </a:p>
        </p:txBody>
      </p:sp>
      <p:sp>
        <p:nvSpPr>
          <p:cNvPr id="3" name="texto">
            <a:extLst xmlns:a="http://schemas.openxmlformats.org/drawingml/2006/main">
              <a:ext uri="{FF2B5EF4-FFF2-40B4-BE49-F238E27FC236}">
                <a16:creationId xmlns:a16="http://schemas.microsoft.com/office/drawing/2014/main" id="{71EC94EB-97C8-4FF2-918E-ACB051D35B33}"/>
              </a:ext>
            </a:extLst>
          </p:cNvPr>
          <p:cNvSpPr>
            <a:spLocks xmlns:a="http://schemas.openxmlformats.org/drawingml/2006/main" noGrp="1"/>
          </p:cNvSpPr>
          <p:nvPr/>
        </p:nvSpPr>
        <p:spPr>
          <a:xfrm xmlns:a="http://schemas.openxmlformats.org/drawingml/2006/main">
            <a:off x="685800" y="1809750"/>
            <a:ext cx="2333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7650" b="1">
                <a:solidFill>
                  <a:srgbClr val="75DDD5"/>
                </a:solidFill>
                <a:latin typeface="Helvetica Neue"/>
                <a:ea typeface="Helvetica Neue"/>
                <a:cs typeface="Helvetica Neue"/>
              </a:defRPr>
            </a:pPr>
            <a:r>
              <a:rPr sz="7650" b="1">
                <a:solidFill>
                  <a:srgbClr val="75DDD5"/>
                </a:solidFill>
                <a:latin typeface="Helvetica Neue"/>
                <a:ea typeface="Helvetica Neue"/>
                <a:cs typeface="Helvetica Neue"/>
              </a:rPr>
              <a:t>A</a:t>
            </a:r>
          </a:p>
        </p:txBody>
      </p:sp>
      <p:sp>
        <p:nvSpPr>
          <p:cNvPr id="4" name="texto">
            <a:extLst xmlns:a="http://schemas.openxmlformats.org/drawingml/2006/main">
              <a:ext uri="{FF2B5EF4-FFF2-40B4-BE49-F238E27FC236}">
                <a16:creationId xmlns:a16="http://schemas.microsoft.com/office/drawing/2014/main" id="{57FAB607-55BA-4EF7-83BA-E6843D31009C}"/>
              </a:ext>
            </a:extLst>
          </p:cNvPr>
          <p:cNvSpPr>
            <a:spLocks xmlns:a="http://schemas.openxmlformats.org/drawingml/2006/main" noGrp="1"/>
          </p:cNvSpPr>
          <p:nvPr/>
        </p:nvSpPr>
        <p:spPr>
          <a:xfrm xmlns:a="http://schemas.openxmlformats.org/drawingml/2006/main">
            <a:off x="685800" y="3219450"/>
            <a:ext cx="2514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F5F1E8"/>
                </a:solidFill>
                <a:latin typeface="Helvetica Neue"/>
                <a:ea typeface="Helvetica Neue"/>
                <a:cs typeface="Helvetica Neue"/>
              </a:defRPr>
            </a:pPr>
            <a:r>
              <a:rPr sz="2175" b="1">
                <a:solidFill>
                  <a:srgbClr val="F5F1E8"/>
                </a:solidFill>
                <a:latin typeface="Helvetica Neue"/>
                <a:ea typeface="Helvetica Neue"/>
                <a:cs typeface="Helvetica Neue"/>
              </a:rPr>
              <a:t>Acceso</a:t>
            </a:r>
          </a:p>
        </p:txBody>
      </p:sp>
      <p:sp>
        <p:nvSpPr>
          <p:cNvPr id="5" name="texto">
            <a:extLst xmlns:a="http://schemas.openxmlformats.org/drawingml/2006/main">
              <a:ext uri="{FF2B5EF4-FFF2-40B4-BE49-F238E27FC236}">
                <a16:creationId xmlns:a16="http://schemas.microsoft.com/office/drawing/2014/main" id="{1826F1AA-CAD0-4A11-88B5-828F346C9206}"/>
              </a:ext>
            </a:extLst>
          </p:cNvPr>
          <p:cNvSpPr>
            <a:spLocks xmlns:a="http://schemas.openxmlformats.org/drawingml/2006/main" noGrp="1"/>
          </p:cNvSpPr>
          <p:nvPr/>
        </p:nvSpPr>
        <p:spPr>
          <a:xfrm xmlns:a="http://schemas.openxmlformats.org/drawingml/2006/main">
            <a:off x="685800" y="3905250"/>
            <a:ext cx="2514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F5F1E8"/>
                </a:solidFill>
                <a:latin typeface="Helvetica Neue"/>
                <a:ea typeface="Helvetica Neue"/>
                <a:cs typeface="Helvetica Neue"/>
              </a:defRPr>
            </a:pPr>
            <a:r>
              <a:rPr sz="1950" b="0">
                <a:solidFill>
                  <a:srgbClr val="F5F1E8"/>
                </a:solidFill>
                <a:latin typeface="Helvetica Neue"/>
                <a:ea typeface="Helvetica Neue"/>
                <a:cs typeface="Helvetica Neue"/>
              </a:rPr>
              <a:t>¿Qué datos tienes sobre mí?</a:t>
            </a:r>
          </a:p>
        </p:txBody>
      </p:sp>
      <p:sp>
        <p:nvSpPr>
          <p:cNvPr id="6" name="texto">
            <a:extLst xmlns:a="http://schemas.openxmlformats.org/drawingml/2006/main">
              <a:ext uri="{FF2B5EF4-FFF2-40B4-BE49-F238E27FC236}">
                <a16:creationId xmlns:a16="http://schemas.microsoft.com/office/drawing/2014/main" id="{B7B08260-B6CC-4DD5-A470-10051AE45028}"/>
              </a:ext>
            </a:extLst>
          </p:cNvPr>
          <p:cNvSpPr>
            <a:spLocks xmlns:a="http://schemas.openxmlformats.org/drawingml/2006/main" noGrp="1"/>
          </p:cNvSpPr>
          <p:nvPr/>
        </p:nvSpPr>
        <p:spPr>
          <a:xfrm xmlns:a="http://schemas.openxmlformats.org/drawingml/2006/main">
            <a:off x="3476625" y="1809750"/>
            <a:ext cx="2333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7650" b="1">
                <a:solidFill>
                  <a:srgbClr val="75DDD5"/>
                </a:solidFill>
                <a:latin typeface="Helvetica Neue"/>
                <a:ea typeface="Helvetica Neue"/>
                <a:cs typeface="Helvetica Neue"/>
              </a:defRPr>
            </a:pPr>
            <a:r>
              <a:rPr sz="7650" b="1">
                <a:solidFill>
                  <a:srgbClr val="75DDD5"/>
                </a:solidFill>
                <a:latin typeface="Helvetica Neue"/>
                <a:ea typeface="Helvetica Neue"/>
                <a:cs typeface="Helvetica Neue"/>
              </a:rPr>
              <a:t>R</a:t>
            </a:r>
          </a:p>
        </p:txBody>
      </p:sp>
      <p:sp>
        <p:nvSpPr>
          <p:cNvPr id="7" name="texto">
            <a:extLst xmlns:a="http://schemas.openxmlformats.org/drawingml/2006/main">
              <a:ext uri="{FF2B5EF4-FFF2-40B4-BE49-F238E27FC236}">
                <a16:creationId xmlns:a16="http://schemas.microsoft.com/office/drawing/2014/main" id="{1F45E3A1-640D-4BF9-855D-544F4DFFAB2D}"/>
              </a:ext>
            </a:extLst>
          </p:cNvPr>
          <p:cNvSpPr>
            <a:spLocks xmlns:a="http://schemas.openxmlformats.org/drawingml/2006/main" noGrp="1"/>
          </p:cNvSpPr>
          <p:nvPr/>
        </p:nvSpPr>
        <p:spPr>
          <a:xfrm xmlns:a="http://schemas.openxmlformats.org/drawingml/2006/main">
            <a:off x="3476625" y="3219450"/>
            <a:ext cx="2514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F5F1E8"/>
                </a:solidFill>
                <a:latin typeface="Helvetica Neue"/>
                <a:ea typeface="Helvetica Neue"/>
                <a:cs typeface="Helvetica Neue"/>
              </a:defRPr>
            </a:pPr>
            <a:r>
              <a:rPr sz="2175" b="1">
                <a:solidFill>
                  <a:srgbClr val="F5F1E8"/>
                </a:solidFill>
                <a:latin typeface="Helvetica Neue"/>
                <a:ea typeface="Helvetica Neue"/>
                <a:cs typeface="Helvetica Neue"/>
              </a:rPr>
              <a:t>Rectificación</a:t>
            </a:r>
          </a:p>
        </p:txBody>
      </p:sp>
      <p:sp>
        <p:nvSpPr>
          <p:cNvPr id="8" name="texto">
            <a:extLst xmlns:a="http://schemas.openxmlformats.org/drawingml/2006/main">
              <a:ext uri="{FF2B5EF4-FFF2-40B4-BE49-F238E27FC236}">
                <a16:creationId xmlns:a16="http://schemas.microsoft.com/office/drawing/2014/main" id="{02C18A6D-0361-410F-8CB0-CBCDFDC855EE}"/>
              </a:ext>
            </a:extLst>
          </p:cNvPr>
          <p:cNvSpPr>
            <a:spLocks xmlns:a="http://schemas.openxmlformats.org/drawingml/2006/main" noGrp="1"/>
          </p:cNvSpPr>
          <p:nvPr/>
        </p:nvSpPr>
        <p:spPr>
          <a:xfrm xmlns:a="http://schemas.openxmlformats.org/drawingml/2006/main">
            <a:off x="3476625" y="3905250"/>
            <a:ext cx="2514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F5F1E8"/>
                </a:solidFill>
                <a:latin typeface="Helvetica Neue"/>
                <a:ea typeface="Helvetica Neue"/>
                <a:cs typeface="Helvetica Neue"/>
              </a:defRPr>
            </a:pPr>
            <a:r>
              <a:rPr sz="1950" b="0">
                <a:solidFill>
                  <a:srgbClr val="F5F1E8"/>
                </a:solidFill>
                <a:latin typeface="Helvetica Neue"/>
                <a:ea typeface="Helvetica Neue"/>
                <a:cs typeface="Helvetica Neue"/>
              </a:rPr>
              <a:t>Ese dato está equivocado</a:t>
            </a:r>
          </a:p>
        </p:txBody>
      </p:sp>
      <p:sp>
        <p:nvSpPr>
          <p:cNvPr id="9" name="texto">
            <a:extLst xmlns:a="http://schemas.openxmlformats.org/drawingml/2006/main">
              <a:ext uri="{FF2B5EF4-FFF2-40B4-BE49-F238E27FC236}">
                <a16:creationId xmlns:a16="http://schemas.microsoft.com/office/drawing/2014/main" id="{C9E70A61-0A64-4C25-B60D-28FD9C7CC4D5}"/>
              </a:ext>
            </a:extLst>
          </p:cNvPr>
          <p:cNvSpPr>
            <a:spLocks xmlns:a="http://schemas.openxmlformats.org/drawingml/2006/main" noGrp="1"/>
          </p:cNvSpPr>
          <p:nvPr/>
        </p:nvSpPr>
        <p:spPr>
          <a:xfrm xmlns:a="http://schemas.openxmlformats.org/drawingml/2006/main">
            <a:off x="6267450" y="1809750"/>
            <a:ext cx="2333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7650" b="1">
                <a:solidFill>
                  <a:srgbClr val="75DDD5"/>
                </a:solidFill>
                <a:latin typeface="Helvetica Neue"/>
                <a:ea typeface="Helvetica Neue"/>
                <a:cs typeface="Helvetica Neue"/>
              </a:defRPr>
            </a:pPr>
            <a:r>
              <a:rPr sz="7650" b="1">
                <a:solidFill>
                  <a:srgbClr val="75DDD5"/>
                </a:solidFill>
                <a:latin typeface="Helvetica Neue"/>
                <a:ea typeface="Helvetica Neue"/>
                <a:cs typeface="Helvetica Neue"/>
              </a:rPr>
              <a:t>C</a:t>
            </a:r>
          </a:p>
        </p:txBody>
      </p:sp>
      <p:sp>
        <p:nvSpPr>
          <p:cNvPr id="10" name="texto">
            <a:extLst xmlns:a="http://schemas.openxmlformats.org/drawingml/2006/main">
              <a:ext uri="{FF2B5EF4-FFF2-40B4-BE49-F238E27FC236}">
                <a16:creationId xmlns:a16="http://schemas.microsoft.com/office/drawing/2014/main" id="{26E0F15A-1AEC-42A4-9E68-182EFD921525}"/>
              </a:ext>
            </a:extLst>
          </p:cNvPr>
          <p:cNvSpPr>
            <a:spLocks xmlns:a="http://schemas.openxmlformats.org/drawingml/2006/main" noGrp="1"/>
          </p:cNvSpPr>
          <p:nvPr/>
        </p:nvSpPr>
        <p:spPr>
          <a:xfrm xmlns:a="http://schemas.openxmlformats.org/drawingml/2006/main">
            <a:off x="6267450" y="3219450"/>
            <a:ext cx="2514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F5F1E8"/>
                </a:solidFill>
                <a:latin typeface="Helvetica Neue"/>
                <a:ea typeface="Helvetica Neue"/>
                <a:cs typeface="Helvetica Neue"/>
              </a:defRPr>
            </a:pPr>
            <a:r>
              <a:rPr sz="2175" b="1">
                <a:solidFill>
                  <a:srgbClr val="F5F1E8"/>
                </a:solidFill>
                <a:latin typeface="Helvetica Neue"/>
                <a:ea typeface="Helvetica Neue"/>
                <a:cs typeface="Helvetica Neue"/>
              </a:rPr>
              <a:t>Cancelación</a:t>
            </a:r>
          </a:p>
        </p:txBody>
      </p:sp>
      <p:sp>
        <p:nvSpPr>
          <p:cNvPr id="11" name="texto">
            <a:extLst xmlns:a="http://schemas.openxmlformats.org/drawingml/2006/main">
              <a:ext uri="{FF2B5EF4-FFF2-40B4-BE49-F238E27FC236}">
                <a16:creationId xmlns:a16="http://schemas.microsoft.com/office/drawing/2014/main" id="{509791B5-0874-48B7-8D09-29391CDE4DDF}"/>
              </a:ext>
            </a:extLst>
          </p:cNvPr>
          <p:cNvSpPr>
            <a:spLocks xmlns:a="http://schemas.openxmlformats.org/drawingml/2006/main" noGrp="1"/>
          </p:cNvSpPr>
          <p:nvPr/>
        </p:nvSpPr>
        <p:spPr>
          <a:xfrm xmlns:a="http://schemas.openxmlformats.org/drawingml/2006/main">
            <a:off x="6267450" y="3905250"/>
            <a:ext cx="2514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F5F1E8"/>
                </a:solidFill>
                <a:latin typeface="Helvetica Neue"/>
                <a:ea typeface="Helvetica Neue"/>
                <a:cs typeface="Helvetica Neue"/>
              </a:defRPr>
            </a:pPr>
            <a:r>
              <a:rPr sz="1950" b="0">
                <a:solidFill>
                  <a:srgbClr val="F5F1E8"/>
                </a:solidFill>
                <a:latin typeface="Helvetica Neue"/>
                <a:ea typeface="Helvetica Neue"/>
                <a:cs typeface="Helvetica Neue"/>
              </a:rPr>
              <a:t>Solicito su supresión</a:t>
            </a:r>
          </a:p>
        </p:txBody>
      </p:sp>
      <p:sp>
        <p:nvSpPr>
          <p:cNvPr id="12" name="texto">
            <a:extLst xmlns:a="http://schemas.openxmlformats.org/drawingml/2006/main">
              <a:ext uri="{FF2B5EF4-FFF2-40B4-BE49-F238E27FC236}">
                <a16:creationId xmlns:a16="http://schemas.microsoft.com/office/drawing/2014/main" id="{CC67D164-2BC0-4BDD-8440-EBB89C77131F}"/>
              </a:ext>
            </a:extLst>
          </p:cNvPr>
          <p:cNvSpPr>
            <a:spLocks xmlns:a="http://schemas.openxmlformats.org/drawingml/2006/main" noGrp="1"/>
          </p:cNvSpPr>
          <p:nvPr/>
        </p:nvSpPr>
        <p:spPr>
          <a:xfrm xmlns:a="http://schemas.openxmlformats.org/drawingml/2006/main">
            <a:off x="9058275" y="1809750"/>
            <a:ext cx="2333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7650" b="1">
                <a:solidFill>
                  <a:srgbClr val="75DDD5"/>
                </a:solidFill>
                <a:latin typeface="Helvetica Neue"/>
                <a:ea typeface="Helvetica Neue"/>
                <a:cs typeface="Helvetica Neue"/>
              </a:defRPr>
            </a:pPr>
            <a:r>
              <a:rPr sz="7650" b="1">
                <a:solidFill>
                  <a:srgbClr val="75DDD5"/>
                </a:solidFill>
                <a:latin typeface="Helvetica Neue"/>
                <a:ea typeface="Helvetica Neue"/>
                <a:cs typeface="Helvetica Neue"/>
              </a:rPr>
              <a:t>O</a:t>
            </a:r>
          </a:p>
        </p:txBody>
      </p:sp>
      <p:sp>
        <p:nvSpPr>
          <p:cNvPr id="13" name="texto">
            <a:extLst xmlns:a="http://schemas.openxmlformats.org/drawingml/2006/main">
              <a:ext uri="{FF2B5EF4-FFF2-40B4-BE49-F238E27FC236}">
                <a16:creationId xmlns:a16="http://schemas.microsoft.com/office/drawing/2014/main" id="{F787F27B-2957-45B3-9500-0E37E66E45F9}"/>
              </a:ext>
            </a:extLst>
          </p:cNvPr>
          <p:cNvSpPr>
            <a:spLocks xmlns:a="http://schemas.openxmlformats.org/drawingml/2006/main" noGrp="1"/>
          </p:cNvSpPr>
          <p:nvPr/>
        </p:nvSpPr>
        <p:spPr>
          <a:xfrm xmlns:a="http://schemas.openxmlformats.org/drawingml/2006/main">
            <a:off x="9058275" y="3219450"/>
            <a:ext cx="2514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F5F1E8"/>
                </a:solidFill>
                <a:latin typeface="Helvetica Neue"/>
                <a:ea typeface="Helvetica Neue"/>
                <a:cs typeface="Helvetica Neue"/>
              </a:defRPr>
            </a:pPr>
            <a:r>
              <a:rPr sz="2175" b="1">
                <a:solidFill>
                  <a:srgbClr val="F5F1E8"/>
                </a:solidFill>
                <a:latin typeface="Helvetica Neue"/>
                <a:ea typeface="Helvetica Neue"/>
                <a:cs typeface="Helvetica Neue"/>
              </a:rPr>
              <a:t>Oposición</a:t>
            </a:r>
          </a:p>
        </p:txBody>
      </p:sp>
      <p:sp>
        <p:nvSpPr>
          <p:cNvPr id="14" name="texto">
            <a:extLst xmlns:a="http://schemas.openxmlformats.org/drawingml/2006/main">
              <a:ext uri="{FF2B5EF4-FFF2-40B4-BE49-F238E27FC236}">
                <a16:creationId xmlns:a16="http://schemas.microsoft.com/office/drawing/2014/main" id="{9D0D43B9-FE54-4E65-95E9-46A8F2B98D16}"/>
              </a:ext>
            </a:extLst>
          </p:cNvPr>
          <p:cNvSpPr>
            <a:spLocks xmlns:a="http://schemas.openxmlformats.org/drawingml/2006/main" noGrp="1"/>
          </p:cNvSpPr>
          <p:nvPr/>
        </p:nvSpPr>
        <p:spPr>
          <a:xfrm xmlns:a="http://schemas.openxmlformats.org/drawingml/2006/main">
            <a:off x="9058275" y="3905250"/>
            <a:ext cx="2514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F5F1E8"/>
                </a:solidFill>
                <a:latin typeface="Helvetica Neue"/>
                <a:ea typeface="Helvetica Neue"/>
                <a:cs typeface="Helvetica Neue"/>
              </a:defRPr>
            </a:pPr>
            <a:r>
              <a:rPr sz="1950" b="0">
                <a:solidFill>
                  <a:srgbClr val="F5F1E8"/>
                </a:solidFill>
                <a:latin typeface="Helvetica Neue"/>
                <a:ea typeface="Helvetica Neue"/>
                <a:cs typeface="Helvetica Neue"/>
              </a:rPr>
              <a:t>Me opongo a este tratamiento</a:t>
            </a:r>
          </a:p>
        </p:txBody>
      </p:sp>
      <p:sp>
        <p:nvSpPr>
          <p:cNvPr id="15" name="texto">
            <a:extLst xmlns:a="http://schemas.openxmlformats.org/drawingml/2006/main">
              <a:ext uri="{FF2B5EF4-FFF2-40B4-BE49-F238E27FC236}">
                <a16:creationId xmlns:a16="http://schemas.microsoft.com/office/drawing/2014/main" id="{9B0D6C33-C18F-4D6F-9B75-F336440CC75D}"/>
              </a:ext>
            </a:extLst>
          </p:cNvPr>
          <p:cNvSpPr>
            <a:spLocks xmlns:a="http://schemas.openxmlformats.org/drawingml/2006/main" noGrp="1"/>
          </p:cNvSpPr>
          <p:nvPr/>
        </p:nvSpPr>
        <p:spPr>
          <a:xfrm xmlns:a="http://schemas.openxmlformats.org/drawingml/2006/main">
            <a:off x="685800" y="5381625"/>
            <a:ext cx="876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75DDD5"/>
                </a:solidFill>
                <a:latin typeface="Helvetica Neue"/>
                <a:ea typeface="Helvetica Neue"/>
                <a:cs typeface="Helvetica Neue"/>
              </a:defRPr>
            </a:pPr>
            <a:r>
              <a:rPr sz="1950" b="1">
                <a:solidFill>
                  <a:srgbClr val="75DDD5"/>
                </a:solidFill>
                <a:latin typeface="Helvetica Neue"/>
                <a:ea typeface="Helvetica Neue"/>
                <a:cs typeface="Helvetica Neue"/>
              </a:rPr>
              <a:t>Cada derecho tiene condiciones y límites legales</a:t>
            </a:r>
          </a:p>
        </p:txBody>
      </p:sp>
    </p:spTree>
    <p:extLst>
      <p:ext uri="{BB962C8B-B14F-4D97-AF65-F5344CB8AC3E}">
        <p14:creationId xmlns:p14="http://schemas.microsoft.com/office/powerpoint/2010/main" val="1622309492"/>
      </p:ext>
    </p:extLst>
  </p:cSld>
</p:sld>
</file>

<file path=ppt/slides/slide10.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5" name="texto">
            <a:extLst xmlns:a="http://schemas.openxmlformats.org/drawingml/2006/main">
              <a:ext uri="{FF2B5EF4-FFF2-40B4-BE49-F238E27FC236}">
                <a16:creationId xmlns:a16="http://schemas.microsoft.com/office/drawing/2014/main" id="{ABC0C93B-637F-4592-893A-F32083AE977E}"/>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F5F1E8"/>
                </a:solidFill>
                <a:latin typeface="Helvetica Neue"/>
                <a:ea typeface="Helvetica Neue"/>
                <a:cs typeface="Helvetica Neue"/>
              </a:defRPr>
            </a:pPr>
            <a:r>
              <a:rPr sz="3750" b="1">
                <a:solidFill>
                  <a:srgbClr val="F5F1E8"/>
                </a:solidFill>
                <a:latin typeface="Helvetica Neue"/>
                <a:ea typeface="Helvetica Neue"/>
                <a:cs typeface="Helvetica Neue"/>
              </a:rPr>
              <a:t>¿Qué derecho usarías?</a:t>
            </a:r>
          </a:p>
        </p:txBody>
      </p:sp>
      <p:sp>
        <p:nvSpPr>
          <p:cNvPr id="2" name="texto">
            <a:extLst xmlns:a="http://schemas.openxmlformats.org/drawingml/2006/main">
              <a:ext uri="{FF2B5EF4-FFF2-40B4-BE49-F238E27FC236}">
                <a16:creationId xmlns:a16="http://schemas.microsoft.com/office/drawing/2014/main" id="{5EB48732-6299-4B7D-B4AD-466895BFBDC9}"/>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B4C1D4"/>
                </a:solidFill>
                <a:latin typeface="Helvetica Neue"/>
                <a:ea typeface="Helvetica Neue"/>
                <a:cs typeface="Helvetica Neue"/>
              </a:defRPr>
            </a:pPr>
            <a:r>
              <a:rPr sz="1650" b="0">
                <a:solidFill>
                  <a:srgbClr val="B4C1D4"/>
                </a:solidFill>
                <a:latin typeface="Helvetica Neue"/>
                <a:ea typeface="Helvetica Neue"/>
                <a:cs typeface="Helvetica Neue"/>
              </a:rPr>
              <a:t>10</a:t>
            </a:r>
          </a:p>
        </p:txBody>
      </p:sp>
      <p:sp>
        <p:nvSpPr>
          <p:cNvPr id="3" name="texto">
            <a:extLst xmlns:a="http://schemas.openxmlformats.org/drawingml/2006/main">
              <a:ext uri="{FF2B5EF4-FFF2-40B4-BE49-F238E27FC236}">
                <a16:creationId xmlns:a16="http://schemas.microsoft.com/office/drawing/2014/main" id="{C816AD27-5B12-40D9-9922-F6874C8B1E8B}"/>
              </a:ext>
            </a:extLst>
          </p:cNvPr>
          <p:cNvSpPr>
            <a:spLocks xmlns:a="http://schemas.openxmlformats.org/drawingml/2006/main" noGrp="1"/>
          </p:cNvSpPr>
          <p:nvPr/>
        </p:nvSpPr>
        <p:spPr>
          <a:xfrm xmlns:a="http://schemas.openxmlformats.org/drawingml/2006/main">
            <a:off x="685800" y="1952625"/>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F5F1E8"/>
                </a:solidFill>
                <a:latin typeface="Helvetica Neue"/>
                <a:ea typeface="Helvetica Neue"/>
                <a:cs typeface="Helvetica Neue"/>
              </a:defRPr>
            </a:pPr>
            <a:r>
              <a:rPr sz="4050" b="1">
                <a:solidFill>
                  <a:srgbClr val="F5F1E8"/>
                </a:solidFill>
                <a:latin typeface="Helvetica Neue"/>
                <a:ea typeface="Helvetica Neue"/>
                <a:cs typeface="Helvetica Neue"/>
              </a:rPr>
              <a:t>«La empresa registró</a:t>
            </a:r>
          </a:p>
          <a:p xmlns:a="http://schemas.openxmlformats.org/drawingml/2006/main">
            <a:pPr algn="l">
              <a:defRPr sz="4050" b="1">
                <a:solidFill>
                  <a:srgbClr val="F5F1E8"/>
                </a:solidFill>
                <a:latin typeface="Helvetica Neue"/>
                <a:ea typeface="Helvetica Neue"/>
                <a:cs typeface="Helvetica Neue"/>
              </a:defRPr>
            </a:pPr>
            <a:r>
              <a:rPr sz="4050" b="1">
                <a:solidFill>
                  <a:srgbClr val="F5F1E8"/>
                </a:solidFill>
                <a:latin typeface="Helvetica Neue"/>
                <a:ea typeface="Helvetica Neue"/>
                <a:cs typeface="Helvetica Neue"/>
              </a:rPr>
              <a:t>un correo que no es mío»</a:t>
            </a:r>
          </a:p>
        </p:txBody>
      </p:sp>
      <p:sp>
        <p:nvSpPr>
          <p:cNvPr id="4" name="texto">
            <a:extLst xmlns:a="http://schemas.openxmlformats.org/drawingml/2006/main">
              <a:ext uri="{FF2B5EF4-FFF2-40B4-BE49-F238E27FC236}">
                <a16:creationId xmlns:a16="http://schemas.microsoft.com/office/drawing/2014/main" id="{DC5991DA-4C5D-4963-AA31-596CB3D5D1DF}"/>
              </a:ext>
            </a:extLst>
          </p:cNvPr>
          <p:cNvSpPr>
            <a:spLocks xmlns:a="http://schemas.openxmlformats.org/drawingml/2006/main" noGrp="1"/>
          </p:cNvSpPr>
          <p:nvPr/>
        </p:nvSpPr>
        <p:spPr>
          <a:xfrm xmlns:a="http://schemas.openxmlformats.org/drawingml/2006/main">
            <a:off x="685800" y="4143375"/>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400" b="1">
                <a:solidFill>
                  <a:srgbClr val="75DDD5"/>
                </a:solidFill>
                <a:latin typeface="Helvetica Neue"/>
                <a:ea typeface="Helvetica Neue"/>
                <a:cs typeface="Helvetica Neue"/>
              </a:defRPr>
            </a:pPr>
            <a:r>
              <a:rPr sz="5400" b="1">
                <a:solidFill>
                  <a:srgbClr val="75DDD5"/>
                </a:solidFill>
                <a:latin typeface="Helvetica Neue"/>
                <a:ea typeface="Helvetica Neue"/>
                <a:cs typeface="Helvetica Neue"/>
              </a:rPr>
              <a:t>A   R   C   O</a:t>
            </a:r>
          </a:p>
        </p:txBody>
      </p:sp>
    </p:spTree>
    <p:extLst>
      <p:ext uri="{BB962C8B-B14F-4D97-AF65-F5344CB8AC3E}">
        <p14:creationId xmlns:p14="http://schemas.microsoft.com/office/powerpoint/2010/main" val="684286986"/>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exto">
            <a:extLst xmlns:a="http://schemas.openxmlformats.org/drawingml/2006/main">
              <a:ext uri="{FF2B5EF4-FFF2-40B4-BE49-F238E27FC236}">
                <a16:creationId xmlns:a16="http://schemas.microsoft.com/office/drawing/2014/main" id="{9334468B-0BC1-40CF-9547-A11BE5C1C1A5}"/>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10182B"/>
                </a:solidFill>
                <a:latin typeface="Helvetica Neue"/>
                <a:ea typeface="Helvetica Neue"/>
                <a:cs typeface="Helvetica Neue"/>
              </a:defRPr>
            </a:pPr>
            <a:r>
              <a:rPr sz="3750" b="1">
                <a:solidFill>
                  <a:srgbClr val="10182B"/>
                </a:solidFill>
                <a:latin typeface="Helvetica Neue"/>
                <a:ea typeface="Helvetica Neue"/>
                <a:cs typeface="Helvetica Neue"/>
              </a:rPr>
              <a:t>La ruta para ejercer tus derechos</a:t>
            </a:r>
          </a:p>
        </p:txBody>
      </p:sp>
      <p:sp>
        <p:nvSpPr>
          <p:cNvPr id="2" name="texto">
            <a:extLst xmlns:a="http://schemas.openxmlformats.org/drawingml/2006/main">
              <a:ext uri="{FF2B5EF4-FFF2-40B4-BE49-F238E27FC236}">
                <a16:creationId xmlns:a16="http://schemas.microsoft.com/office/drawing/2014/main" id="{1EAD21CC-77FB-4A24-91C2-18576D97E058}"/>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566276"/>
                </a:solidFill>
                <a:latin typeface="Helvetica Neue"/>
                <a:ea typeface="Helvetica Neue"/>
                <a:cs typeface="Helvetica Neue"/>
              </a:defRPr>
            </a:pPr>
            <a:r>
              <a:rPr sz="1650" b="0">
                <a:solidFill>
                  <a:srgbClr val="566276"/>
                </a:solidFill>
                <a:latin typeface="Helvetica Neue"/>
                <a:ea typeface="Helvetica Neue"/>
                <a:cs typeface="Helvetica Neue"/>
              </a:rPr>
              <a:t>11</a:t>
            </a:r>
          </a:p>
        </p:txBody>
      </p:sp>
      <p:sp>
        <p:nvSpPr>
          <p:cNvPr id="3" name="nodo_diagrama">
            <a:extLst xmlns:a="http://schemas.openxmlformats.org/drawingml/2006/main">
              <a:ext uri="{FF2B5EF4-FFF2-40B4-BE49-F238E27FC236}">
                <a16:creationId xmlns:a16="http://schemas.microsoft.com/office/drawing/2014/main" id="{4C00861A-5DEB-4FFD-ADC2-AC1922FA086C}"/>
              </a:ext>
            </a:extLst>
          </p:cNvPr>
          <p:cNvSpPr>
            <a:spLocks xmlns:a="http://schemas.openxmlformats.org/drawingml/2006/main" noGrp="1"/>
          </p:cNvSpPr>
          <p:nvPr/>
        </p:nvSpPr>
        <p:spPr>
          <a:xfrm xmlns:a="http://schemas.openxmlformats.org/drawingml/2006/main">
            <a:off x="685800" y="2381250"/>
            <a:ext cx="3143250" cy="1143000"/>
          </a:xfrm>
          <a:prstGeom xmlns:a="http://schemas.openxmlformats.org/drawingml/2006/main" prst="rect">
            <a:avLst/>
          </a:prstGeom>
          <a:solidFill xmlns:a="http://schemas.openxmlformats.org/drawingml/2006/main">
            <a:srgbClr val="E4ECE7"/>
          </a:solidFill>
          <a:ln xmlns:a="http://schemas.openxmlformats.org/drawingml/2006/main" w="19050">
            <a:solidFill>
              <a:srgbClr val="087E83"/>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400" b="1">
                <a:solidFill>
                  <a:srgbClr val="10182B"/>
                </a:solidFill>
                <a:latin typeface="Helvetica Neue"/>
                <a:ea typeface="Helvetica Neue"/>
                <a:cs typeface="Helvetica Neue"/>
              </a:defRPr>
            </a:pPr>
            <a:r>
              <a:rPr sz="2400" b="1">
                <a:solidFill>
                  <a:srgbClr val="10182B"/>
                </a:solidFill>
                <a:latin typeface="Helvetica Neue"/>
                <a:ea typeface="Helvetica Neue"/>
                <a:cs typeface="Helvetica Neue"/>
              </a:rPr>
              <a:t>Solicitud a</a:t>
            </a:r>
          </a:p>
          <a:p xmlns:a="http://schemas.openxmlformats.org/drawingml/2006/main">
            <a:pPr algn="ctr">
              <a:defRPr sz="2400" b="1">
                <a:solidFill>
                  <a:srgbClr val="10182B"/>
                </a:solidFill>
                <a:latin typeface="Helvetica Neue"/>
                <a:ea typeface="Helvetica Neue"/>
                <a:cs typeface="Helvetica Neue"/>
              </a:defRPr>
            </a:pPr>
            <a:r>
              <a:rPr sz="2400" b="1">
                <a:solidFill>
                  <a:srgbClr val="10182B"/>
                </a:solidFill>
                <a:latin typeface="Helvetica Neue"/>
                <a:ea typeface="Helvetica Neue"/>
                <a:cs typeface="Helvetica Neue"/>
              </a:rPr>
              <a:t>la entidad</a:t>
            </a:r>
          </a:p>
        </p:txBody>
      </p:sp>
      <p:sp>
        <p:nvSpPr>
          <p:cNvPr id="4" name="nodo_diagrama">
            <a:extLst xmlns:a="http://schemas.openxmlformats.org/drawingml/2006/main">
              <a:ext uri="{FF2B5EF4-FFF2-40B4-BE49-F238E27FC236}">
                <a16:creationId xmlns:a16="http://schemas.microsoft.com/office/drawing/2014/main" id="{5A2A3A69-A3BC-4F41-BB27-F55BFA8BCEF6}"/>
              </a:ext>
            </a:extLst>
          </p:cNvPr>
          <p:cNvSpPr>
            <a:spLocks xmlns:a="http://schemas.openxmlformats.org/drawingml/2006/main" noGrp="1"/>
          </p:cNvSpPr>
          <p:nvPr/>
        </p:nvSpPr>
        <p:spPr>
          <a:xfrm xmlns:a="http://schemas.openxmlformats.org/drawingml/2006/main">
            <a:off x="4400550" y="2381250"/>
            <a:ext cx="3143250" cy="1143000"/>
          </a:xfrm>
          <a:prstGeom xmlns:a="http://schemas.openxmlformats.org/drawingml/2006/main" prst="rect">
            <a:avLst/>
          </a:prstGeom>
          <a:solidFill xmlns:a="http://schemas.openxmlformats.org/drawingml/2006/main">
            <a:srgbClr val="E4ECE7"/>
          </a:solidFill>
          <a:ln xmlns:a="http://schemas.openxmlformats.org/drawingml/2006/main" w="19050">
            <a:solidFill>
              <a:srgbClr val="087E83"/>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400" b="1">
                <a:solidFill>
                  <a:srgbClr val="10182B"/>
                </a:solidFill>
                <a:latin typeface="Helvetica Neue"/>
                <a:ea typeface="Helvetica Neue"/>
                <a:cs typeface="Helvetica Neue"/>
              </a:defRPr>
            </a:pPr>
            <a:r>
              <a:rPr sz="2400" b="1">
                <a:solidFill>
                  <a:srgbClr val="10182B"/>
                </a:solidFill>
                <a:latin typeface="Helvetica Neue"/>
                <a:ea typeface="Helvetica Neue"/>
                <a:cs typeface="Helvetica Neue"/>
              </a:rPr>
              <a:t>Respuesta</a:t>
            </a:r>
          </a:p>
        </p:txBody>
      </p:sp>
      <p:sp>
        <p:nvSpPr>
          <p:cNvPr id="5" name="nodo_diagrama">
            <a:extLst xmlns:a="http://schemas.openxmlformats.org/drawingml/2006/main">
              <a:ext uri="{FF2B5EF4-FFF2-40B4-BE49-F238E27FC236}">
                <a16:creationId xmlns:a16="http://schemas.microsoft.com/office/drawing/2014/main" id="{D12089A9-9533-4B5F-90A1-D6D2E45A32E4}"/>
              </a:ext>
            </a:extLst>
          </p:cNvPr>
          <p:cNvSpPr>
            <a:spLocks xmlns:a="http://schemas.openxmlformats.org/drawingml/2006/main" noGrp="1"/>
          </p:cNvSpPr>
          <p:nvPr/>
        </p:nvSpPr>
        <p:spPr>
          <a:xfrm xmlns:a="http://schemas.openxmlformats.org/drawingml/2006/main">
            <a:off x="8115300" y="2381250"/>
            <a:ext cx="3143250" cy="1143000"/>
          </a:xfrm>
          <a:prstGeom xmlns:a="http://schemas.openxmlformats.org/drawingml/2006/main" prst="rect">
            <a:avLst/>
          </a:prstGeom>
          <a:solidFill xmlns:a="http://schemas.openxmlformats.org/drawingml/2006/main">
            <a:srgbClr val="E4ECE7"/>
          </a:solidFill>
          <a:ln xmlns:a="http://schemas.openxmlformats.org/drawingml/2006/main" w="19050">
            <a:solidFill>
              <a:srgbClr val="087E83"/>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400" b="1">
                <a:solidFill>
                  <a:srgbClr val="10182B"/>
                </a:solidFill>
                <a:latin typeface="Helvetica Neue"/>
                <a:ea typeface="Helvetica Neue"/>
                <a:cs typeface="Helvetica Neue"/>
              </a:defRPr>
            </a:pPr>
            <a:r>
              <a:rPr sz="2400" b="1">
                <a:solidFill>
                  <a:srgbClr val="10182B"/>
                </a:solidFill>
                <a:latin typeface="Helvetica Neue"/>
                <a:ea typeface="Helvetica Neue"/>
                <a:cs typeface="Helvetica Neue"/>
              </a:rPr>
              <a:t>Tutela ante</a:t>
            </a:r>
          </a:p>
          <a:p xmlns:a="http://schemas.openxmlformats.org/drawingml/2006/main">
            <a:pPr algn="ctr">
              <a:defRPr sz="2400" b="1">
                <a:solidFill>
                  <a:srgbClr val="10182B"/>
                </a:solidFill>
                <a:latin typeface="Helvetica Neue"/>
                <a:ea typeface="Helvetica Neue"/>
                <a:cs typeface="Helvetica Neue"/>
              </a:defRPr>
            </a:pPr>
            <a:r>
              <a:rPr sz="2400" b="1">
                <a:solidFill>
                  <a:srgbClr val="10182B"/>
                </a:solidFill>
                <a:latin typeface="Helvetica Neue"/>
                <a:ea typeface="Helvetica Neue"/>
                <a:cs typeface="Helvetica Neue"/>
              </a:rPr>
              <a:t>la ANPD</a:t>
            </a:r>
          </a:p>
        </p:txBody>
      </p:sp>
      <p:cxnSp>
        <p:nvCxnSpPr>
          <p:cNvPr id="16" name=""/>
          <p:cNvCxnSpPr>
            <a:stCxn xmlns:a="http://schemas.openxmlformats.org/drawingml/2006/main" id="3" idx="3"/>
            <a:endCxn xmlns:a="http://schemas.openxmlformats.org/drawingml/2006/main" id="4" idx="1"/>
          </p:cNvCxnSpPr>
          <p:nvPr/>
        </p:nvCxnSpPr>
        <p:spPr>
          <a:xfrm xmlns:a="http://schemas.openxmlformats.org/drawingml/2006/main">
            <a:off x="3829050" y="2952750"/>
            <a:ext cx="571500" cy="0"/>
          </a:xfrm>
          <a:prstGeom xmlns:a="http://schemas.openxmlformats.org/drawingml/2006/main" prst="straightConnector1">
            <a:avLst/>
          </a:prstGeom>
          <a:ln xmlns:a="http://schemas.openxmlformats.org/drawingml/2006/main" w="28575">
            <a:solidFill>
              <a:srgbClr val="087E83"/>
            </a:solidFill>
            <a:tailEnd type="triangle" w="med" len="med"/>
          </a:ln>
        </p:spPr>
      </p:cxn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a:off x="7543800" y="2952750"/>
            <a:ext cx="571500" cy="0"/>
          </a:xfrm>
          <a:prstGeom xmlns:a="http://schemas.openxmlformats.org/drawingml/2006/main" prst="straightConnector1">
            <a:avLst/>
          </a:prstGeom>
          <a:ln xmlns:a="http://schemas.openxmlformats.org/drawingml/2006/main" w="28575">
            <a:solidFill>
              <a:srgbClr val="087E83"/>
            </a:solidFill>
            <a:tailEnd type="triangle" w="med" len="med"/>
          </a:ln>
        </p:spPr>
      </p:cxnSp>
      <p:sp>
        <p:nvSpPr>
          <p:cNvPr id="8" name="texto">
            <a:extLst xmlns:a="http://schemas.openxmlformats.org/drawingml/2006/main">
              <a:ext uri="{FF2B5EF4-FFF2-40B4-BE49-F238E27FC236}">
                <a16:creationId xmlns:a16="http://schemas.microsoft.com/office/drawing/2014/main" id="{6B77EB86-AA30-45D5-BD8F-021FA9124377}"/>
              </a:ext>
            </a:extLst>
          </p:cNvPr>
          <p:cNvSpPr>
            <a:spLocks xmlns:a="http://schemas.openxmlformats.org/drawingml/2006/main" noGrp="1"/>
          </p:cNvSpPr>
          <p:nvPr/>
        </p:nvSpPr>
        <p:spPr>
          <a:xfrm xmlns:a="http://schemas.openxmlformats.org/drawingml/2006/main">
            <a:off x="8115300" y="3714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D84B3B"/>
                </a:solidFill>
                <a:latin typeface="Helvetica Neue"/>
                <a:ea typeface="Helvetica Neue"/>
                <a:cs typeface="Helvetica Neue"/>
              </a:defRPr>
            </a:pPr>
            <a:r>
              <a:rPr sz="1725" b="0">
                <a:solidFill>
                  <a:srgbClr val="D84B3B"/>
                </a:solidFill>
                <a:latin typeface="Helvetica Neue"/>
                <a:ea typeface="Helvetica Neue"/>
                <a:cs typeface="Helvetica Neue"/>
              </a:rPr>
              <a:t>Si no responde o deniega</a:t>
            </a:r>
          </a:p>
        </p:txBody>
      </p:sp>
      <p:sp>
        <p:nvSpPr>
          <p:cNvPr id="9" name="texto">
            <a:extLst xmlns:a="http://schemas.openxmlformats.org/drawingml/2006/main">
              <a:ext uri="{FF2B5EF4-FFF2-40B4-BE49-F238E27FC236}">
                <a16:creationId xmlns:a16="http://schemas.microsoft.com/office/drawing/2014/main" id="{7DAEEA50-5F6A-4227-BD6A-25FA39FCAF76}"/>
              </a:ext>
            </a:extLst>
          </p:cNvPr>
          <p:cNvSpPr>
            <a:spLocks xmlns:a="http://schemas.openxmlformats.org/drawingml/2006/main" noGrp="1"/>
          </p:cNvSpPr>
          <p:nvPr/>
        </p:nvSpPr>
        <p:spPr>
          <a:xfrm xmlns:a="http://schemas.openxmlformats.org/drawingml/2006/main">
            <a:off x="685800" y="4524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Acceso: 20 días hábiles   /   R, C y O: 10 días hábiles</a:t>
            </a:r>
          </a:p>
        </p:txBody>
      </p:sp>
      <p:sp>
        <p:nvSpPr>
          <p:cNvPr id="10" name="texto">
            <a:extLst xmlns:a="http://schemas.openxmlformats.org/drawingml/2006/main">
              <a:ext uri="{FF2B5EF4-FFF2-40B4-BE49-F238E27FC236}">
                <a16:creationId xmlns:a16="http://schemas.microsoft.com/office/drawing/2014/main" id="{58E5E3FC-8522-4152-B859-2990B8EE8093}"/>
              </a:ext>
            </a:extLst>
          </p:cNvPr>
          <p:cNvSpPr>
            <a:spLocks xmlns:a="http://schemas.openxmlformats.org/drawingml/2006/main" noGrp="1"/>
          </p:cNvSpPr>
          <p:nvPr/>
        </p:nvSpPr>
        <p:spPr>
          <a:xfrm xmlns:a="http://schemas.openxmlformats.org/drawingml/2006/main">
            <a:off x="685800" y="5372100"/>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66276"/>
                </a:solidFill>
                <a:latin typeface="Helvetica Neue"/>
                <a:ea typeface="Helvetica Neue"/>
                <a:cs typeface="Helvetica Neue"/>
              </a:defRPr>
            </a:pPr>
            <a:r>
              <a:rPr sz="1800" b="0">
                <a:solidFill>
                  <a:srgbClr val="566276"/>
                </a:solidFill>
                <a:latin typeface="Helvetica Neue"/>
                <a:ea typeface="Helvetica Neue"/>
                <a:cs typeface="Helvetica Neue"/>
              </a:rPr>
              <a:t>Plazos generales. El reglamento prevé ampliación o suspensión.</a:t>
            </a:r>
          </a:p>
        </p:txBody>
      </p:sp>
    </p:spTree>
    <p:extLst>
      <p:ext uri="{BB962C8B-B14F-4D97-AF65-F5344CB8AC3E}">
        <p14:creationId xmlns:p14="http://schemas.microsoft.com/office/powerpoint/2010/main" val="994749925"/>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texto">
            <a:extLst xmlns:a="http://schemas.openxmlformats.org/drawingml/2006/main">
              <a:ext uri="{FF2B5EF4-FFF2-40B4-BE49-F238E27FC236}">
                <a16:creationId xmlns:a16="http://schemas.microsoft.com/office/drawing/2014/main" id="{EF05B584-96AA-4DAC-807A-177F557F1A32}"/>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10182B"/>
                </a:solidFill>
                <a:latin typeface="Helvetica Neue"/>
                <a:ea typeface="Helvetica Neue"/>
                <a:cs typeface="Helvetica Neue"/>
              </a:defRPr>
            </a:pPr>
            <a:r>
              <a:rPr sz="3750" b="1">
                <a:solidFill>
                  <a:srgbClr val="10182B"/>
                </a:solidFill>
                <a:latin typeface="Helvetica Neue"/>
                <a:ea typeface="Helvetica Neue"/>
                <a:cs typeface="Helvetica Neue"/>
              </a:rPr>
              <a:t>La solicitud de Alex</a:t>
            </a:r>
          </a:p>
        </p:txBody>
      </p:sp>
      <p:sp>
        <p:nvSpPr>
          <p:cNvPr id="2" name="texto">
            <a:extLst xmlns:a="http://schemas.openxmlformats.org/drawingml/2006/main">
              <a:ext uri="{FF2B5EF4-FFF2-40B4-BE49-F238E27FC236}">
                <a16:creationId xmlns:a16="http://schemas.microsoft.com/office/drawing/2014/main" id="{11AB3C44-A954-4231-8BB1-DEA3F22787C2}"/>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566276"/>
                </a:solidFill>
                <a:latin typeface="Helvetica Neue"/>
                <a:ea typeface="Helvetica Neue"/>
                <a:cs typeface="Helvetica Neue"/>
              </a:defRPr>
            </a:pPr>
            <a:r>
              <a:rPr sz="1650" b="0">
                <a:solidFill>
                  <a:srgbClr val="566276"/>
                </a:solidFill>
                <a:latin typeface="Helvetica Neue"/>
                <a:ea typeface="Helvetica Neue"/>
                <a:cs typeface="Helvetica Neue"/>
              </a:rPr>
              <a:t>12</a:t>
            </a:r>
          </a:p>
        </p:txBody>
      </p:sp>
      <p:sp>
        <p:nvSpPr>
          <p:cNvPr id="3" name="texto">
            <a:extLst xmlns:a="http://schemas.openxmlformats.org/drawingml/2006/main">
              <a:ext uri="{FF2B5EF4-FFF2-40B4-BE49-F238E27FC236}">
                <a16:creationId xmlns:a16="http://schemas.microsoft.com/office/drawing/2014/main" id="{C30B4FD8-A3AE-4FFD-9049-F19112DFC213}"/>
              </a:ext>
            </a:extLst>
          </p:cNvPr>
          <p:cNvSpPr>
            <a:spLocks xmlns:a="http://schemas.openxmlformats.org/drawingml/2006/main" noGrp="1"/>
          </p:cNvSpPr>
          <p:nvPr/>
        </p:nvSpPr>
        <p:spPr>
          <a:xfrm xmlns:a="http://schemas.openxmlformats.org/drawingml/2006/main">
            <a:off x="685800" y="1905000"/>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0182B"/>
                </a:solidFill>
                <a:latin typeface="Helvetica Neue"/>
                <a:ea typeface="Helvetica Neue"/>
                <a:cs typeface="Helvetica Neue"/>
              </a:defRPr>
            </a:pPr>
            <a:r>
              <a:rPr sz="3450" b="1">
                <a:solidFill>
                  <a:srgbClr val="10182B"/>
                </a:solidFill>
                <a:latin typeface="Helvetica Neue"/>
                <a:ea typeface="Helvetica Neue"/>
                <a:cs typeface="Helvetica Neue"/>
              </a:rPr>
              <a:t>«Solicito conocer el origen</a:t>
            </a:r>
          </a:p>
          <a:p xmlns:a="http://schemas.openxmlformats.org/drawingml/2006/main">
            <a:pPr algn="l">
              <a:defRPr sz="3450" b="1">
                <a:solidFill>
                  <a:srgbClr val="10182B"/>
                </a:solidFill>
                <a:latin typeface="Helvetica Neue"/>
                <a:ea typeface="Helvetica Neue"/>
                <a:cs typeface="Helvetica Neue"/>
              </a:defRPr>
            </a:pPr>
            <a:r>
              <a:rPr sz="3450" b="1">
                <a:solidFill>
                  <a:srgbClr val="10182B"/>
                </a:solidFill>
                <a:latin typeface="Helvetica Neue"/>
                <a:ea typeface="Helvetica Neue"/>
                <a:cs typeface="Helvetica Neue"/>
              </a:rPr>
              <a:t>y el uso de mi número de celular»</a:t>
            </a:r>
          </a:p>
        </p:txBody>
      </p:sp>
      <p:sp>
        <p:nvSpPr>
          <p:cNvPr id="4" name="texto">
            <a:extLst xmlns:a="http://schemas.openxmlformats.org/drawingml/2006/main">
              <a:ext uri="{FF2B5EF4-FFF2-40B4-BE49-F238E27FC236}">
                <a16:creationId xmlns:a16="http://schemas.microsoft.com/office/drawing/2014/main" id="{842A5658-7D12-406F-9735-8AE2B4E131F8}"/>
              </a:ext>
            </a:extLst>
          </p:cNvPr>
          <p:cNvSpPr>
            <a:spLocks xmlns:a="http://schemas.openxmlformats.org/drawingml/2006/main" noGrp="1"/>
          </p:cNvSpPr>
          <p:nvPr/>
        </p:nvSpPr>
        <p:spPr>
          <a:xfrm xmlns:a="http://schemas.openxmlformats.org/drawingml/2006/main">
            <a:off x="685800" y="4067175"/>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087E83"/>
                </a:solidFill>
                <a:latin typeface="Helvetica Neue"/>
                <a:ea typeface="Helvetica Neue"/>
                <a:cs typeface="Helvetica Neue"/>
              </a:defRPr>
            </a:pPr>
            <a:r>
              <a:rPr sz="2550" b="1">
                <a:solidFill>
                  <a:srgbClr val="087E83"/>
                </a:solidFill>
                <a:latin typeface="Helvetica Neue"/>
                <a:ea typeface="Helvetica Neue"/>
                <a:cs typeface="Helvetica Neue"/>
              </a:rPr>
              <a:t>Identidad acreditada + pedido claro</a:t>
            </a:r>
          </a:p>
        </p:txBody>
      </p:sp>
      <p:sp>
        <p:nvSpPr>
          <p:cNvPr id="5" name="texto">
            <a:extLst xmlns:a="http://schemas.openxmlformats.org/drawingml/2006/main">
              <a:ext uri="{FF2B5EF4-FFF2-40B4-BE49-F238E27FC236}">
                <a16:creationId xmlns:a16="http://schemas.microsoft.com/office/drawing/2014/main" id="{A5F64DF1-3ABA-4CB8-8FCA-186FA956CEAD}"/>
              </a:ext>
            </a:extLst>
          </p:cNvPr>
          <p:cNvSpPr>
            <a:spLocks xmlns:a="http://schemas.openxmlformats.org/drawingml/2006/main" noGrp="1"/>
          </p:cNvSpPr>
          <p:nvPr/>
        </p:nvSpPr>
        <p:spPr>
          <a:xfrm xmlns:a="http://schemas.openxmlformats.org/drawingml/2006/main">
            <a:off x="685800" y="5381625"/>
            <a:ext cx="876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087E83"/>
                </a:solidFill>
                <a:latin typeface="Helvetica Neue"/>
                <a:ea typeface="Helvetica Neue"/>
                <a:cs typeface="Helvetica Neue"/>
              </a:defRPr>
            </a:pPr>
            <a:r>
              <a:rPr sz="1950" b="1">
                <a:solidFill>
                  <a:srgbClr val="087E83"/>
                </a:solidFill>
                <a:latin typeface="Helvetica Neue"/>
                <a:ea typeface="Helvetica Neue"/>
                <a:cs typeface="Helvetica Neue"/>
              </a:rPr>
              <a:t>Canal oficial + constancia de envío</a:t>
            </a:r>
          </a:p>
        </p:txBody>
      </p:sp>
    </p:spTree>
    <p:extLst>
      <p:ext uri="{BB962C8B-B14F-4D97-AF65-F5344CB8AC3E}">
        <p14:creationId xmlns:p14="http://schemas.microsoft.com/office/powerpoint/2010/main" val="123578921"/>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exto">
            <a:extLst xmlns:a="http://schemas.openxmlformats.org/drawingml/2006/main">
              <a:ext uri="{FF2B5EF4-FFF2-40B4-BE49-F238E27FC236}">
                <a16:creationId xmlns:a16="http://schemas.microsoft.com/office/drawing/2014/main" id="{476AEBE1-89B8-4CB9-9FA5-E987FC4B4F12}"/>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0182B"/>
                </a:solidFill>
                <a:latin typeface="Helvetica Neue"/>
                <a:ea typeface="Helvetica Neue"/>
                <a:cs typeface="Helvetica Neue"/>
              </a:defRPr>
            </a:pPr>
            <a:r>
              <a:rPr sz="3300" b="1">
                <a:solidFill>
                  <a:srgbClr val="10182B"/>
                </a:solidFill>
                <a:latin typeface="Helvetica Neue"/>
                <a:ea typeface="Helvetica Neue"/>
                <a:cs typeface="Helvetica Neue"/>
              </a:rPr>
              <a:t>Quien recibe datos tiene obligaciones</a:t>
            </a:r>
          </a:p>
        </p:txBody>
      </p:sp>
      <p:sp>
        <p:nvSpPr>
          <p:cNvPr id="2" name="texto">
            <a:extLst xmlns:a="http://schemas.openxmlformats.org/drawingml/2006/main">
              <a:ext uri="{FF2B5EF4-FFF2-40B4-BE49-F238E27FC236}">
                <a16:creationId xmlns:a16="http://schemas.microsoft.com/office/drawing/2014/main" id="{8C2BD8FF-DDBF-4CD7-811E-10387D966AEA}"/>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566276"/>
                </a:solidFill>
                <a:latin typeface="Helvetica Neue"/>
                <a:ea typeface="Helvetica Neue"/>
                <a:cs typeface="Helvetica Neue"/>
              </a:defRPr>
            </a:pPr>
            <a:r>
              <a:rPr sz="1650" b="0">
                <a:solidFill>
                  <a:srgbClr val="566276"/>
                </a:solidFill>
                <a:latin typeface="Helvetica Neue"/>
                <a:ea typeface="Helvetica Neue"/>
                <a:cs typeface="Helvetica Neue"/>
              </a:rPr>
              <a:t>13</a:t>
            </a:r>
          </a:p>
        </p:txBody>
      </p:sp>
      <p:sp>
        <p:nvSpPr>
          <p:cNvPr id="3" name="texto">
            <a:extLst xmlns:a="http://schemas.openxmlformats.org/drawingml/2006/main">
              <a:ext uri="{FF2B5EF4-FFF2-40B4-BE49-F238E27FC236}">
                <a16:creationId xmlns:a16="http://schemas.microsoft.com/office/drawing/2014/main" id="{71B52BFB-568E-4060-A453-1930F2804498}"/>
              </a:ext>
            </a:extLst>
          </p:cNvPr>
          <p:cNvSpPr>
            <a:spLocks xmlns:a="http://schemas.openxmlformats.org/drawingml/2006/main" noGrp="1"/>
          </p:cNvSpPr>
          <p:nvPr/>
        </p:nvSpPr>
        <p:spPr>
          <a:xfrm xmlns:a="http://schemas.openxmlformats.org/drawingml/2006/main">
            <a:off x="685800" y="1809750"/>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Informar</a:t>
            </a:r>
          </a:p>
        </p:txBody>
      </p:sp>
      <p:sp>
        <p:nvSpPr>
          <p:cNvPr id="4" name="texto">
            <a:extLst xmlns:a="http://schemas.openxmlformats.org/drawingml/2006/main">
              <a:ext uri="{FF2B5EF4-FFF2-40B4-BE49-F238E27FC236}">
                <a16:creationId xmlns:a16="http://schemas.microsoft.com/office/drawing/2014/main" id="{93348F95-7C16-4642-B4D9-F4C82099ABA7}"/>
              </a:ext>
            </a:extLst>
          </p:cNvPr>
          <p:cNvSpPr>
            <a:spLocks xmlns:a="http://schemas.openxmlformats.org/drawingml/2006/main" noGrp="1"/>
          </p:cNvSpPr>
          <p:nvPr/>
        </p:nvSpPr>
        <p:spPr>
          <a:xfrm xmlns:a="http://schemas.openxmlformats.org/drawingml/2006/main">
            <a:off x="3971925" y="1809750"/>
            <a:ext cx="75342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0182B"/>
                </a:solidFill>
                <a:latin typeface="Helvetica Neue"/>
                <a:ea typeface="Helvetica Neue"/>
                <a:cs typeface="Helvetica Neue"/>
              </a:defRPr>
            </a:pPr>
            <a:r>
              <a:rPr sz="2100" b="0">
                <a:solidFill>
                  <a:srgbClr val="10182B"/>
                </a:solidFill>
                <a:latin typeface="Helvetica Neue"/>
                <a:ea typeface="Helvetica Neue"/>
                <a:cs typeface="Helvetica Neue"/>
              </a:rPr>
              <a:t>Finalidades y canales claros</a:t>
            </a:r>
          </a:p>
        </p:txBody>
      </p:sp>
      <p:sp>
        <p:nvSpPr>
          <p:cNvPr id="5" name="texto">
            <a:extLst xmlns:a="http://schemas.openxmlformats.org/drawingml/2006/main">
              <a:ext uri="{FF2B5EF4-FFF2-40B4-BE49-F238E27FC236}">
                <a16:creationId xmlns:a16="http://schemas.microsoft.com/office/drawing/2014/main" id="{168BE14E-0800-4400-8458-E370895F00B2}"/>
              </a:ext>
            </a:extLst>
          </p:cNvPr>
          <p:cNvSpPr>
            <a:spLocks xmlns:a="http://schemas.openxmlformats.org/drawingml/2006/main" noGrp="1"/>
          </p:cNvSpPr>
          <p:nvPr/>
        </p:nvSpPr>
        <p:spPr>
          <a:xfrm xmlns:a="http://schemas.openxmlformats.org/drawingml/2006/main">
            <a:off x="685800" y="2638425"/>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Proteger</a:t>
            </a:r>
          </a:p>
        </p:txBody>
      </p:sp>
      <p:sp>
        <p:nvSpPr>
          <p:cNvPr id="6" name="texto">
            <a:extLst xmlns:a="http://schemas.openxmlformats.org/drawingml/2006/main">
              <a:ext uri="{FF2B5EF4-FFF2-40B4-BE49-F238E27FC236}">
                <a16:creationId xmlns:a16="http://schemas.microsoft.com/office/drawing/2014/main" id="{A0812CF6-52BB-47B3-ABC4-858DE9AC37FF}"/>
              </a:ext>
            </a:extLst>
          </p:cNvPr>
          <p:cNvSpPr>
            <a:spLocks xmlns:a="http://schemas.openxmlformats.org/drawingml/2006/main" noGrp="1"/>
          </p:cNvSpPr>
          <p:nvPr/>
        </p:nvSpPr>
        <p:spPr>
          <a:xfrm xmlns:a="http://schemas.openxmlformats.org/drawingml/2006/main">
            <a:off x="3971925" y="2638425"/>
            <a:ext cx="75342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0182B"/>
                </a:solidFill>
                <a:latin typeface="Helvetica Neue"/>
                <a:ea typeface="Helvetica Neue"/>
                <a:cs typeface="Helvetica Neue"/>
              </a:defRPr>
            </a:pPr>
            <a:r>
              <a:rPr sz="2100" b="0">
                <a:solidFill>
                  <a:srgbClr val="10182B"/>
                </a:solidFill>
                <a:latin typeface="Helvetica Neue"/>
                <a:ea typeface="Helvetica Neue"/>
                <a:cs typeface="Helvetica Neue"/>
              </a:rPr>
              <a:t>Acceso solo a personas autorizadas</a:t>
            </a:r>
          </a:p>
        </p:txBody>
      </p:sp>
      <p:sp>
        <p:nvSpPr>
          <p:cNvPr id="7" name="texto">
            <a:extLst xmlns:a="http://schemas.openxmlformats.org/drawingml/2006/main">
              <a:ext uri="{FF2B5EF4-FFF2-40B4-BE49-F238E27FC236}">
                <a16:creationId xmlns:a16="http://schemas.microsoft.com/office/drawing/2014/main" id="{33FD22DF-88D9-47AC-A0BD-349917779BB2}"/>
              </a:ext>
            </a:extLst>
          </p:cNvPr>
          <p:cNvSpPr>
            <a:spLocks xmlns:a="http://schemas.openxmlformats.org/drawingml/2006/main" noGrp="1"/>
          </p:cNvSpPr>
          <p:nvPr/>
        </p:nvSpPr>
        <p:spPr>
          <a:xfrm xmlns:a="http://schemas.openxmlformats.org/drawingml/2006/main">
            <a:off x="685800" y="3467100"/>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Responder</a:t>
            </a:r>
          </a:p>
        </p:txBody>
      </p:sp>
      <p:sp>
        <p:nvSpPr>
          <p:cNvPr id="8" name="texto">
            <a:extLst xmlns:a="http://schemas.openxmlformats.org/drawingml/2006/main">
              <a:ext uri="{FF2B5EF4-FFF2-40B4-BE49-F238E27FC236}">
                <a16:creationId xmlns:a16="http://schemas.microsoft.com/office/drawing/2014/main" id="{69F2E793-7EBB-4C73-B0B1-077B0D84B050}"/>
              </a:ext>
            </a:extLst>
          </p:cNvPr>
          <p:cNvSpPr>
            <a:spLocks xmlns:a="http://schemas.openxmlformats.org/drawingml/2006/main" noGrp="1"/>
          </p:cNvSpPr>
          <p:nvPr/>
        </p:nvSpPr>
        <p:spPr>
          <a:xfrm xmlns:a="http://schemas.openxmlformats.org/drawingml/2006/main">
            <a:off x="3971925" y="3467100"/>
            <a:ext cx="75342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0182B"/>
                </a:solidFill>
                <a:latin typeface="Helvetica Neue"/>
                <a:ea typeface="Helvetica Neue"/>
                <a:cs typeface="Helvetica Neue"/>
              </a:defRPr>
            </a:pPr>
            <a:r>
              <a:rPr sz="2100" b="0">
                <a:solidFill>
                  <a:srgbClr val="10182B"/>
                </a:solidFill>
                <a:latin typeface="Helvetica Neue"/>
                <a:ea typeface="Helvetica Neue"/>
                <a:cs typeface="Helvetica Neue"/>
              </a:rPr>
              <a:t>Atención de solicitudes de derechos</a:t>
            </a:r>
          </a:p>
        </p:txBody>
      </p:sp>
      <p:sp>
        <p:nvSpPr>
          <p:cNvPr id="9" name="texto">
            <a:extLst xmlns:a="http://schemas.openxmlformats.org/drawingml/2006/main">
              <a:ext uri="{FF2B5EF4-FFF2-40B4-BE49-F238E27FC236}">
                <a16:creationId xmlns:a16="http://schemas.microsoft.com/office/drawing/2014/main" id="{8F3444CC-E7F2-4D6B-B4B9-2F502C3B528B}"/>
              </a:ext>
            </a:extLst>
          </p:cNvPr>
          <p:cNvSpPr>
            <a:spLocks xmlns:a="http://schemas.openxmlformats.org/drawingml/2006/main" noGrp="1"/>
          </p:cNvSpPr>
          <p:nvPr/>
        </p:nvSpPr>
        <p:spPr>
          <a:xfrm xmlns:a="http://schemas.openxmlformats.org/drawingml/2006/main">
            <a:off x="685800" y="4295775"/>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Registrar</a:t>
            </a:r>
          </a:p>
        </p:txBody>
      </p:sp>
      <p:sp>
        <p:nvSpPr>
          <p:cNvPr id="10" name="texto">
            <a:extLst xmlns:a="http://schemas.openxmlformats.org/drawingml/2006/main">
              <a:ext uri="{FF2B5EF4-FFF2-40B4-BE49-F238E27FC236}">
                <a16:creationId xmlns:a16="http://schemas.microsoft.com/office/drawing/2014/main" id="{EE85BDCB-F82E-4E3D-A31A-A7EE9D83C66A}"/>
              </a:ext>
            </a:extLst>
          </p:cNvPr>
          <p:cNvSpPr>
            <a:spLocks xmlns:a="http://schemas.openxmlformats.org/drawingml/2006/main" noGrp="1"/>
          </p:cNvSpPr>
          <p:nvPr/>
        </p:nvSpPr>
        <p:spPr>
          <a:xfrm xmlns:a="http://schemas.openxmlformats.org/drawingml/2006/main">
            <a:off x="3971925" y="4295775"/>
            <a:ext cx="75342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0182B"/>
                </a:solidFill>
                <a:latin typeface="Helvetica Neue"/>
                <a:ea typeface="Helvetica Neue"/>
                <a:cs typeface="Helvetica Neue"/>
              </a:defRPr>
            </a:pPr>
            <a:r>
              <a:rPr sz="2100" b="0">
                <a:solidFill>
                  <a:srgbClr val="10182B"/>
                </a:solidFill>
                <a:latin typeface="Helvetica Neue"/>
                <a:ea typeface="Helvetica Neue"/>
                <a:cs typeface="Helvetica Neue"/>
              </a:rPr>
              <a:t>Bancos de datos cuando corresponde</a:t>
            </a:r>
          </a:p>
        </p:txBody>
      </p:sp>
    </p:spTree>
    <p:extLst>
      <p:ext uri="{BB962C8B-B14F-4D97-AF65-F5344CB8AC3E}">
        <p14:creationId xmlns:p14="http://schemas.microsoft.com/office/powerpoint/2010/main" val="516948037"/>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texto">
            <a:extLst xmlns:a="http://schemas.openxmlformats.org/drawingml/2006/main">
              <a:ext uri="{FF2B5EF4-FFF2-40B4-BE49-F238E27FC236}">
                <a16:creationId xmlns:a16="http://schemas.microsoft.com/office/drawing/2014/main" id="{8CD48A67-B038-4716-A9C0-4B198930807E}"/>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10182B"/>
                </a:solidFill>
                <a:latin typeface="Helvetica Neue"/>
                <a:ea typeface="Helvetica Neue"/>
                <a:cs typeface="Helvetica Neue"/>
              </a:defRPr>
            </a:pPr>
            <a:r>
              <a:rPr sz="3750" b="1">
                <a:solidFill>
                  <a:srgbClr val="10182B"/>
                </a:solidFill>
                <a:latin typeface="Helvetica Neue"/>
                <a:ea typeface="Helvetica Neue"/>
                <a:cs typeface="Helvetica Neue"/>
              </a:rPr>
              <a:t>Novedades del reglamento</a:t>
            </a:r>
          </a:p>
        </p:txBody>
      </p:sp>
      <p:sp>
        <p:nvSpPr>
          <p:cNvPr id="2" name="texto">
            <a:extLst xmlns:a="http://schemas.openxmlformats.org/drawingml/2006/main">
              <a:ext uri="{FF2B5EF4-FFF2-40B4-BE49-F238E27FC236}">
                <a16:creationId xmlns:a16="http://schemas.microsoft.com/office/drawing/2014/main" id="{7C8D2474-65D0-498C-8F89-ACBF58E0558E}"/>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566276"/>
                </a:solidFill>
                <a:latin typeface="Helvetica Neue"/>
                <a:ea typeface="Helvetica Neue"/>
                <a:cs typeface="Helvetica Neue"/>
              </a:defRPr>
            </a:pPr>
            <a:r>
              <a:rPr sz="1650" b="0">
                <a:solidFill>
                  <a:srgbClr val="566276"/>
                </a:solidFill>
                <a:latin typeface="Helvetica Neue"/>
                <a:ea typeface="Helvetica Neue"/>
                <a:cs typeface="Helvetica Neue"/>
              </a:rPr>
              <a:t>14</a:t>
            </a:r>
          </a:p>
        </p:txBody>
      </p:sp>
      <p:sp>
        <p:nvSpPr>
          <p:cNvPr id="3" name="texto">
            <a:extLst xmlns:a="http://schemas.openxmlformats.org/drawingml/2006/main">
              <a:ext uri="{FF2B5EF4-FFF2-40B4-BE49-F238E27FC236}">
                <a16:creationId xmlns:a16="http://schemas.microsoft.com/office/drawing/2014/main" id="{4079B1F8-44A4-4E3B-92E6-97429CDA9608}"/>
              </a:ext>
            </a:extLst>
          </p:cNvPr>
          <p:cNvSpPr>
            <a:spLocks xmlns:a="http://schemas.openxmlformats.org/drawingml/2006/main" noGrp="1"/>
          </p:cNvSpPr>
          <p:nvPr/>
        </p:nvSpPr>
        <p:spPr>
          <a:xfrm xmlns:a="http://schemas.openxmlformats.org/drawingml/2006/main">
            <a:off x="685800" y="1857375"/>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Incidentes</a:t>
            </a:r>
          </a:p>
        </p:txBody>
      </p:sp>
      <p:sp>
        <p:nvSpPr>
          <p:cNvPr id="4" name="texto">
            <a:extLst xmlns:a="http://schemas.openxmlformats.org/drawingml/2006/main">
              <a:ext uri="{FF2B5EF4-FFF2-40B4-BE49-F238E27FC236}">
                <a16:creationId xmlns:a16="http://schemas.microsoft.com/office/drawing/2014/main" id="{8F53FF6E-CCB0-481F-848A-9B00635D2136}"/>
              </a:ext>
            </a:extLst>
          </p:cNvPr>
          <p:cNvSpPr>
            <a:spLocks xmlns:a="http://schemas.openxmlformats.org/drawingml/2006/main" noGrp="1"/>
          </p:cNvSpPr>
          <p:nvPr/>
        </p:nvSpPr>
        <p:spPr>
          <a:xfrm xmlns:a="http://schemas.openxmlformats.org/drawingml/2006/main">
            <a:off x="5591175" y="1857375"/>
            <a:ext cx="59150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0182B"/>
                </a:solidFill>
                <a:latin typeface="Helvetica Neue"/>
                <a:ea typeface="Helvetica Neue"/>
                <a:cs typeface="Helvetica Neue"/>
              </a:defRPr>
            </a:pPr>
            <a:r>
              <a:rPr sz="2100" b="0">
                <a:solidFill>
                  <a:srgbClr val="10182B"/>
                </a:solidFill>
                <a:latin typeface="Helvetica Neue"/>
                <a:ea typeface="Helvetica Neue"/>
                <a:cs typeface="Helvetica Neue"/>
              </a:rPr>
              <a:t>Notificación en los supuestos previstos</a:t>
            </a:r>
          </a:p>
        </p:txBody>
      </p:sp>
      <p:sp>
        <p:nvSpPr>
          <p:cNvPr id="5" name="texto">
            <a:extLst xmlns:a="http://schemas.openxmlformats.org/drawingml/2006/main">
              <a:ext uri="{FF2B5EF4-FFF2-40B4-BE49-F238E27FC236}">
                <a16:creationId xmlns:a16="http://schemas.microsoft.com/office/drawing/2014/main" id="{3ABE9E1A-60E6-4DA5-9D18-499E02FE33FD}"/>
              </a:ext>
            </a:extLst>
          </p:cNvPr>
          <p:cNvSpPr>
            <a:spLocks xmlns:a="http://schemas.openxmlformats.org/drawingml/2006/main" noGrp="1"/>
          </p:cNvSpPr>
          <p:nvPr/>
        </p:nvSpPr>
        <p:spPr>
          <a:xfrm xmlns:a="http://schemas.openxmlformats.org/drawingml/2006/main">
            <a:off x="685800" y="2895600"/>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Oficial de Datos Personales</a:t>
            </a:r>
          </a:p>
        </p:txBody>
      </p:sp>
      <p:sp>
        <p:nvSpPr>
          <p:cNvPr id="6" name="texto">
            <a:extLst xmlns:a="http://schemas.openxmlformats.org/drawingml/2006/main">
              <a:ext uri="{FF2B5EF4-FFF2-40B4-BE49-F238E27FC236}">
                <a16:creationId xmlns:a16="http://schemas.microsoft.com/office/drawing/2014/main" id="{2EE7C810-F56B-400E-BAFC-5BEDC34444A4}"/>
              </a:ext>
            </a:extLst>
          </p:cNvPr>
          <p:cNvSpPr>
            <a:spLocks xmlns:a="http://schemas.openxmlformats.org/drawingml/2006/main" noGrp="1"/>
          </p:cNvSpPr>
          <p:nvPr/>
        </p:nvSpPr>
        <p:spPr>
          <a:xfrm xmlns:a="http://schemas.openxmlformats.org/drawingml/2006/main">
            <a:off x="5591175" y="2895600"/>
            <a:ext cx="59150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0182B"/>
                </a:solidFill>
                <a:latin typeface="Helvetica Neue"/>
                <a:ea typeface="Helvetica Neue"/>
                <a:cs typeface="Helvetica Neue"/>
              </a:defRPr>
            </a:pPr>
            <a:r>
              <a:rPr sz="2100" b="0">
                <a:solidFill>
                  <a:srgbClr val="10182B"/>
                </a:solidFill>
                <a:latin typeface="Helvetica Neue"/>
                <a:ea typeface="Helvetica Neue"/>
                <a:cs typeface="Helvetica Neue"/>
              </a:rPr>
              <a:t>Designación según supuestos y plazos</a:t>
            </a:r>
          </a:p>
        </p:txBody>
      </p:sp>
      <p:sp>
        <p:nvSpPr>
          <p:cNvPr id="7" name="texto">
            <a:extLst xmlns:a="http://schemas.openxmlformats.org/drawingml/2006/main">
              <a:ext uri="{FF2B5EF4-FFF2-40B4-BE49-F238E27FC236}">
                <a16:creationId xmlns:a16="http://schemas.microsoft.com/office/drawing/2014/main" id="{D867DDCF-D02C-4401-A776-EDA38D194910}"/>
              </a:ext>
            </a:extLst>
          </p:cNvPr>
          <p:cNvSpPr>
            <a:spLocks xmlns:a="http://schemas.openxmlformats.org/drawingml/2006/main" noGrp="1"/>
          </p:cNvSpPr>
          <p:nvPr/>
        </p:nvSpPr>
        <p:spPr>
          <a:xfrm xmlns:a="http://schemas.openxmlformats.org/drawingml/2006/main">
            <a:off x="685800" y="3933825"/>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Portabilidad</a:t>
            </a:r>
          </a:p>
        </p:txBody>
      </p:sp>
      <p:sp>
        <p:nvSpPr>
          <p:cNvPr id="8" name="texto">
            <a:extLst xmlns:a="http://schemas.openxmlformats.org/drawingml/2006/main">
              <a:ext uri="{FF2B5EF4-FFF2-40B4-BE49-F238E27FC236}">
                <a16:creationId xmlns:a16="http://schemas.microsoft.com/office/drawing/2014/main" id="{A662C6BD-EA02-4140-9761-5B7E82A7C094}"/>
              </a:ext>
            </a:extLst>
          </p:cNvPr>
          <p:cNvSpPr>
            <a:spLocks xmlns:a="http://schemas.openxmlformats.org/drawingml/2006/main" noGrp="1"/>
          </p:cNvSpPr>
          <p:nvPr/>
        </p:nvSpPr>
        <p:spPr>
          <a:xfrm xmlns:a="http://schemas.openxmlformats.org/drawingml/2006/main">
            <a:off x="5591175" y="3933825"/>
            <a:ext cx="59150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0182B"/>
                </a:solidFill>
                <a:latin typeface="Helvetica Neue"/>
                <a:ea typeface="Helvetica Neue"/>
                <a:cs typeface="Helvetica Neue"/>
              </a:defRPr>
            </a:pPr>
            <a:r>
              <a:rPr sz="2100" b="0">
                <a:solidFill>
                  <a:srgbClr val="10182B"/>
                </a:solidFill>
                <a:latin typeface="Helvetica Neue"/>
                <a:ea typeface="Helvetica Neue"/>
                <a:cs typeface="Helvetica Neue"/>
              </a:rPr>
              <a:t>En las condiciones del reglamento</a:t>
            </a:r>
          </a:p>
        </p:txBody>
      </p:sp>
      <p:sp>
        <p:nvSpPr>
          <p:cNvPr id="9" name="texto">
            <a:extLst xmlns:a="http://schemas.openxmlformats.org/drawingml/2006/main">
              <a:ext uri="{FF2B5EF4-FFF2-40B4-BE49-F238E27FC236}">
                <a16:creationId xmlns:a16="http://schemas.microsoft.com/office/drawing/2014/main" id="{CF2231F2-43D5-44DA-ABE0-367EA526A63E}"/>
              </a:ext>
            </a:extLst>
          </p:cNvPr>
          <p:cNvSpPr>
            <a:spLocks xmlns:a="http://schemas.openxmlformats.org/drawingml/2006/main" noGrp="1"/>
          </p:cNvSpPr>
          <p:nvPr/>
        </p:nvSpPr>
        <p:spPr>
          <a:xfrm xmlns:a="http://schemas.openxmlformats.org/drawingml/2006/main">
            <a:off x="685800" y="5381625"/>
            <a:ext cx="876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087E83"/>
                </a:solidFill>
                <a:latin typeface="Helvetica Neue"/>
                <a:ea typeface="Helvetica Neue"/>
                <a:cs typeface="Helvetica Neue"/>
              </a:defRPr>
            </a:pPr>
            <a:r>
              <a:rPr sz="1950" b="1">
                <a:solidFill>
                  <a:srgbClr val="087E83"/>
                </a:solidFill>
                <a:latin typeface="Helvetica Neue"/>
                <a:ea typeface="Helvetica Neue"/>
                <a:cs typeface="Helvetica Neue"/>
              </a:rPr>
              <a:t>Las obligaciones específicas dependen del caso</a:t>
            </a:r>
          </a:p>
        </p:txBody>
      </p:sp>
    </p:spTree>
    <p:extLst>
      <p:ext uri="{BB962C8B-B14F-4D97-AF65-F5344CB8AC3E}">
        <p14:creationId xmlns:p14="http://schemas.microsoft.com/office/powerpoint/2010/main" val="606199419"/>
      </p:ext>
    </p:extLst>
  </p:cSld>
</p:sld>
</file>

<file path=ppt/slides/slide15.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7" name="texto">
            <a:extLst xmlns:a="http://schemas.openxmlformats.org/drawingml/2006/main">
              <a:ext uri="{FF2B5EF4-FFF2-40B4-BE49-F238E27FC236}">
                <a16:creationId xmlns:a16="http://schemas.microsoft.com/office/drawing/2014/main" id="{087AD135-0219-4A61-970E-C82EDA615DAD}"/>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F5F1E8"/>
                </a:solidFill>
                <a:latin typeface="Helvetica Neue"/>
                <a:ea typeface="Helvetica Neue"/>
                <a:cs typeface="Helvetica Neue"/>
              </a:defRPr>
            </a:pPr>
            <a:r>
              <a:rPr sz="3750" b="1">
                <a:solidFill>
                  <a:srgbClr val="F5F1E8"/>
                </a:solidFill>
                <a:latin typeface="Helvetica Neue"/>
                <a:ea typeface="Helvetica Neue"/>
                <a:cs typeface="Helvetica Neue"/>
              </a:rPr>
              <a:t>Si ocurre una filtración</a:t>
            </a:r>
          </a:p>
        </p:txBody>
      </p:sp>
      <p:sp>
        <p:nvSpPr>
          <p:cNvPr id="2" name="texto">
            <a:extLst xmlns:a="http://schemas.openxmlformats.org/drawingml/2006/main">
              <a:ext uri="{FF2B5EF4-FFF2-40B4-BE49-F238E27FC236}">
                <a16:creationId xmlns:a16="http://schemas.microsoft.com/office/drawing/2014/main" id="{F8A5A787-1C5C-4D06-B2A1-914D7EBCA4CC}"/>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B4C1D4"/>
                </a:solidFill>
                <a:latin typeface="Helvetica Neue"/>
                <a:ea typeface="Helvetica Neue"/>
                <a:cs typeface="Helvetica Neue"/>
              </a:defRPr>
            </a:pPr>
            <a:r>
              <a:rPr sz="1650" b="0">
                <a:solidFill>
                  <a:srgbClr val="B4C1D4"/>
                </a:solidFill>
                <a:latin typeface="Helvetica Neue"/>
                <a:ea typeface="Helvetica Neue"/>
                <a:cs typeface="Helvetica Neue"/>
              </a:rPr>
              <a:t>15</a:t>
            </a:r>
          </a:p>
        </p:txBody>
      </p:sp>
      <p:sp>
        <p:nvSpPr>
          <p:cNvPr id="3" name="texto">
            <a:extLst xmlns:a="http://schemas.openxmlformats.org/drawingml/2006/main">
              <a:ext uri="{FF2B5EF4-FFF2-40B4-BE49-F238E27FC236}">
                <a16:creationId xmlns:a16="http://schemas.microsoft.com/office/drawing/2014/main" id="{CF370766-0EE2-4909-BB81-57E2D571CB9B}"/>
              </a:ext>
            </a:extLst>
          </p:cNvPr>
          <p:cNvSpPr>
            <a:spLocks xmlns:a="http://schemas.openxmlformats.org/drawingml/2006/main" noGrp="1"/>
          </p:cNvSpPr>
          <p:nvPr/>
        </p:nvSpPr>
        <p:spPr>
          <a:xfrm xmlns:a="http://schemas.openxmlformats.org/drawingml/2006/main">
            <a:off x="685800" y="1790700"/>
            <a:ext cx="4857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0" b="1">
                <a:solidFill>
                  <a:srgbClr val="FF957F"/>
                </a:solidFill>
                <a:latin typeface="Helvetica Neue"/>
                <a:ea typeface="Helvetica Neue"/>
                <a:cs typeface="Helvetica Neue"/>
              </a:defRPr>
            </a:pPr>
            <a:r>
              <a:rPr sz="11250" b="1">
                <a:solidFill>
                  <a:srgbClr val="FF957F"/>
                </a:solidFill>
                <a:latin typeface="Helvetica Neue"/>
                <a:ea typeface="Helvetica Neue"/>
                <a:cs typeface="Helvetica Neue"/>
              </a:rPr>
              <a:t>48 h</a:t>
            </a:r>
          </a:p>
        </p:txBody>
      </p:sp>
      <p:sp>
        <p:nvSpPr>
          <p:cNvPr id="4" name="texto">
            <a:extLst xmlns:a="http://schemas.openxmlformats.org/drawingml/2006/main">
              <a:ext uri="{FF2B5EF4-FFF2-40B4-BE49-F238E27FC236}">
                <a16:creationId xmlns:a16="http://schemas.microsoft.com/office/drawing/2014/main" id="{C55DBA77-B254-42CF-950A-A21C870F8CC5}"/>
              </a:ext>
            </a:extLst>
          </p:cNvPr>
          <p:cNvSpPr>
            <a:spLocks xmlns:a="http://schemas.openxmlformats.org/drawingml/2006/main" noGrp="1"/>
          </p:cNvSpPr>
          <p:nvPr/>
        </p:nvSpPr>
        <p:spPr>
          <a:xfrm xmlns:a="http://schemas.openxmlformats.org/drawingml/2006/main">
            <a:off x="6191250" y="2047875"/>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F5F1E8"/>
                </a:solidFill>
                <a:latin typeface="Helvetica Neue"/>
                <a:ea typeface="Helvetica Neue"/>
                <a:cs typeface="Helvetica Neue"/>
              </a:defRPr>
            </a:pPr>
            <a:r>
              <a:rPr sz="2700" b="1">
                <a:solidFill>
                  <a:srgbClr val="F5F1E8"/>
                </a:solidFill>
                <a:latin typeface="Helvetica Neue"/>
                <a:ea typeface="Helvetica Neue"/>
                <a:cs typeface="Helvetica Neue"/>
              </a:rPr>
              <a:t>Máximo para notificar a la ANPD</a:t>
            </a:r>
          </a:p>
          <a:p xmlns:a="http://schemas.openxmlformats.org/drawingml/2006/main">
            <a:pPr algn="l">
              <a:defRPr sz="2700" b="1">
                <a:solidFill>
                  <a:srgbClr val="F5F1E8"/>
                </a:solidFill>
                <a:latin typeface="Helvetica Neue"/>
                <a:ea typeface="Helvetica Neue"/>
                <a:cs typeface="Helvetica Neue"/>
              </a:defRPr>
            </a:pPr>
            <a:r>
              <a:rPr sz="2700" b="1">
                <a:solidFill>
                  <a:srgbClr val="F5F1E8"/>
                </a:solidFill>
                <a:latin typeface="Helvetica Neue"/>
                <a:ea typeface="Helvetica Neue"/>
                <a:cs typeface="Helvetica Neue"/>
              </a:rPr>
              <a:t>desde que se conoce el incidente</a:t>
            </a:r>
          </a:p>
        </p:txBody>
      </p:sp>
      <p:sp>
        <p:nvSpPr>
          <p:cNvPr id="5" name="texto">
            <a:extLst xmlns:a="http://schemas.openxmlformats.org/drawingml/2006/main">
              <a:ext uri="{FF2B5EF4-FFF2-40B4-BE49-F238E27FC236}">
                <a16:creationId xmlns:a16="http://schemas.microsoft.com/office/drawing/2014/main" id="{23B10942-744D-444A-977D-C40EEF4E4CEB}"/>
              </a:ext>
            </a:extLst>
          </p:cNvPr>
          <p:cNvSpPr>
            <a:spLocks xmlns:a="http://schemas.openxmlformats.org/drawingml/2006/main" noGrp="1"/>
          </p:cNvSpPr>
          <p:nvPr/>
        </p:nvSpPr>
        <p:spPr>
          <a:xfrm xmlns:a="http://schemas.openxmlformats.org/drawingml/2006/main">
            <a:off x="6191250" y="3857625"/>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75DDD5"/>
                </a:solidFill>
                <a:latin typeface="Helvetica Neue"/>
                <a:ea typeface="Helvetica Neue"/>
                <a:cs typeface="Helvetica Neue"/>
              </a:defRPr>
            </a:pPr>
            <a:r>
              <a:rPr sz="1950" b="0">
                <a:solidFill>
                  <a:srgbClr val="75DDD5"/>
                </a:solidFill>
                <a:latin typeface="Helvetica Neue"/>
                <a:ea typeface="Helvetica Neue"/>
                <a:cs typeface="Helvetica Neue"/>
              </a:rPr>
              <a:t>Artículo 34.1 del reglamento</a:t>
            </a:r>
          </a:p>
        </p:txBody>
      </p:sp>
      <p:sp>
        <p:nvSpPr>
          <p:cNvPr id="6" name="texto">
            <a:extLst xmlns:a="http://schemas.openxmlformats.org/drawingml/2006/main">
              <a:ext uri="{FF2B5EF4-FFF2-40B4-BE49-F238E27FC236}">
                <a16:creationId xmlns:a16="http://schemas.microsoft.com/office/drawing/2014/main" id="{72C4F202-7F6E-465F-AD98-F32F07C035B0}"/>
              </a:ext>
            </a:extLst>
          </p:cNvPr>
          <p:cNvSpPr>
            <a:spLocks xmlns:a="http://schemas.openxmlformats.org/drawingml/2006/main" noGrp="1"/>
          </p:cNvSpPr>
          <p:nvPr/>
        </p:nvSpPr>
        <p:spPr>
          <a:xfrm xmlns:a="http://schemas.openxmlformats.org/drawingml/2006/main">
            <a:off x="685800" y="489585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F5F1E8"/>
                </a:solidFill>
                <a:latin typeface="Helvetica Neue"/>
                <a:ea typeface="Helvetica Neue"/>
                <a:cs typeface="Helvetica Neue"/>
              </a:defRPr>
            </a:pPr>
            <a:r>
              <a:rPr sz="2175" b="1">
                <a:solidFill>
                  <a:srgbClr val="F5F1E8"/>
                </a:solidFill>
                <a:latin typeface="Helvetica Neue"/>
                <a:ea typeface="Helvetica Neue"/>
                <a:cs typeface="Helvetica Neue"/>
              </a:rPr>
              <a:t>Grandes volúmenes, muchas personas, datos sensibles</a:t>
            </a:r>
          </a:p>
          <a:p xmlns:a="http://schemas.openxmlformats.org/drawingml/2006/main">
            <a:pPr algn="l">
              <a:defRPr sz="2175" b="1">
                <a:solidFill>
                  <a:srgbClr val="F5F1E8"/>
                </a:solidFill>
                <a:latin typeface="Helvetica Neue"/>
                <a:ea typeface="Helvetica Neue"/>
                <a:cs typeface="Helvetica Neue"/>
              </a:defRPr>
            </a:pPr>
            <a:r>
              <a:rPr sz="2175" b="1">
                <a:solidFill>
                  <a:srgbClr val="F5F1E8"/>
                </a:solidFill>
                <a:latin typeface="Helvetica Neue"/>
                <a:ea typeface="Helvetica Neue"/>
                <a:cs typeface="Helvetica Neue"/>
              </a:rPr>
              <a:t>o perjuicio evidente a otros derechos o libertades</a:t>
            </a:r>
          </a:p>
        </p:txBody>
      </p:sp>
    </p:spTree>
    <p:extLst>
      <p:ext uri="{BB962C8B-B14F-4D97-AF65-F5344CB8AC3E}">
        <p14:creationId xmlns:p14="http://schemas.microsoft.com/office/powerpoint/2010/main" val="909773337"/>
      </p:ext>
    </p:extLst>
  </p:cSld>
</p:sld>
</file>

<file path=ppt/slides/slide1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texto">
            <a:extLst xmlns:a="http://schemas.openxmlformats.org/drawingml/2006/main">
              <a:ext uri="{FF2B5EF4-FFF2-40B4-BE49-F238E27FC236}">
                <a16:creationId xmlns:a16="http://schemas.microsoft.com/office/drawing/2014/main" id="{1F9365F9-6CAA-47E9-9D1D-7B17A5E1EB9A}"/>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10182B"/>
                </a:solidFill>
                <a:latin typeface="Helvetica Neue"/>
                <a:ea typeface="Helvetica Neue"/>
                <a:cs typeface="Helvetica Neue"/>
              </a:defRPr>
            </a:pPr>
            <a:r>
              <a:rPr sz="3750" b="1">
                <a:solidFill>
                  <a:srgbClr val="10182B"/>
                </a:solidFill>
                <a:latin typeface="Helvetica Neue"/>
                <a:ea typeface="Helvetica Neue"/>
                <a:cs typeface="Helvetica Neue"/>
              </a:rPr>
              <a:t>La revisión del sorteo</a:t>
            </a:r>
          </a:p>
        </p:txBody>
      </p:sp>
      <p:sp>
        <p:nvSpPr>
          <p:cNvPr id="2" name="texto">
            <a:extLst xmlns:a="http://schemas.openxmlformats.org/drawingml/2006/main">
              <a:ext uri="{FF2B5EF4-FFF2-40B4-BE49-F238E27FC236}">
                <a16:creationId xmlns:a16="http://schemas.microsoft.com/office/drawing/2014/main" id="{F58AF3F8-1DDF-42D3-8CCD-0DBB47D63AC1}"/>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566276"/>
                </a:solidFill>
                <a:latin typeface="Helvetica Neue"/>
                <a:ea typeface="Helvetica Neue"/>
                <a:cs typeface="Helvetica Neue"/>
              </a:defRPr>
            </a:pPr>
            <a:r>
              <a:rPr sz="1650" b="0">
                <a:solidFill>
                  <a:srgbClr val="566276"/>
                </a:solidFill>
                <a:latin typeface="Helvetica Neue"/>
                <a:ea typeface="Helvetica Neue"/>
                <a:cs typeface="Helvetica Neue"/>
              </a:rPr>
              <a:t>16</a:t>
            </a:r>
          </a:p>
        </p:txBody>
      </p:sp>
      <p:sp>
        <p:nvSpPr>
          <p:cNvPr id="3" name="texto">
            <a:extLst xmlns:a="http://schemas.openxmlformats.org/drawingml/2006/main">
              <a:ext uri="{FF2B5EF4-FFF2-40B4-BE49-F238E27FC236}">
                <a16:creationId xmlns:a16="http://schemas.microsoft.com/office/drawing/2014/main" id="{1C41F21B-6F32-4C1E-B095-EC22B8853530}"/>
              </a:ext>
            </a:extLst>
          </p:cNvPr>
          <p:cNvSpPr>
            <a:spLocks xmlns:a="http://schemas.openxmlformats.org/drawingml/2006/main" noGrp="1"/>
          </p:cNvSpPr>
          <p:nvPr/>
        </p:nvSpPr>
        <p:spPr>
          <a:xfrm xmlns:a="http://schemas.openxmlformats.org/drawingml/2006/main">
            <a:off x="685800" y="1952625"/>
            <a:ext cx="304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Formulario</a:t>
            </a:r>
          </a:p>
        </p:txBody>
      </p:sp>
      <p:sp>
        <p:nvSpPr>
          <p:cNvPr id="4" name="texto">
            <a:extLst xmlns:a="http://schemas.openxmlformats.org/drawingml/2006/main">
              <a:ext uri="{FF2B5EF4-FFF2-40B4-BE49-F238E27FC236}">
                <a16:creationId xmlns:a16="http://schemas.microsoft.com/office/drawing/2014/main" id="{EDF21E11-0395-4BCE-ACC1-50A4CC5AA5BD}"/>
              </a:ext>
            </a:extLst>
          </p:cNvPr>
          <p:cNvSpPr>
            <a:spLocks xmlns:a="http://schemas.openxmlformats.org/drawingml/2006/main" noGrp="1"/>
          </p:cNvSpPr>
          <p:nvPr/>
        </p:nvSpPr>
        <p:spPr>
          <a:xfrm xmlns:a="http://schemas.openxmlformats.org/drawingml/2006/main">
            <a:off x="4162425" y="1952625"/>
            <a:ext cx="7343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0182B"/>
                </a:solidFill>
                <a:latin typeface="Helvetica Neue"/>
                <a:ea typeface="Helvetica Neue"/>
                <a:cs typeface="Helvetica Neue"/>
              </a:defRPr>
            </a:pPr>
            <a:r>
              <a:rPr sz="2100" b="0">
                <a:solidFill>
                  <a:srgbClr val="10182B"/>
                </a:solidFill>
                <a:latin typeface="Helvetica Neue"/>
                <a:ea typeface="Helvetica Neue"/>
                <a:cs typeface="Helvetica Neue"/>
              </a:rPr>
              <a:t>¿Explica cada finalidad?</a:t>
            </a:r>
          </a:p>
        </p:txBody>
      </p:sp>
      <p:sp>
        <p:nvSpPr>
          <p:cNvPr id="5" name="texto">
            <a:extLst xmlns:a="http://schemas.openxmlformats.org/drawingml/2006/main">
              <a:ext uri="{FF2B5EF4-FFF2-40B4-BE49-F238E27FC236}">
                <a16:creationId xmlns:a16="http://schemas.microsoft.com/office/drawing/2014/main" id="{52C4079C-027D-43B0-B53D-62431873F626}"/>
              </a:ext>
            </a:extLst>
          </p:cNvPr>
          <p:cNvSpPr>
            <a:spLocks xmlns:a="http://schemas.openxmlformats.org/drawingml/2006/main" noGrp="1"/>
          </p:cNvSpPr>
          <p:nvPr/>
        </p:nvSpPr>
        <p:spPr>
          <a:xfrm xmlns:a="http://schemas.openxmlformats.org/drawingml/2006/main">
            <a:off x="685800" y="2952750"/>
            <a:ext cx="304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Archivo</a:t>
            </a:r>
          </a:p>
        </p:txBody>
      </p:sp>
      <p:sp>
        <p:nvSpPr>
          <p:cNvPr id="6" name="texto">
            <a:extLst xmlns:a="http://schemas.openxmlformats.org/drawingml/2006/main">
              <a:ext uri="{FF2B5EF4-FFF2-40B4-BE49-F238E27FC236}">
                <a16:creationId xmlns:a16="http://schemas.microsoft.com/office/drawing/2014/main" id="{B0071196-B133-4C8B-AAD4-1753C2958B73}"/>
              </a:ext>
            </a:extLst>
          </p:cNvPr>
          <p:cNvSpPr>
            <a:spLocks xmlns:a="http://schemas.openxmlformats.org/drawingml/2006/main" noGrp="1"/>
          </p:cNvSpPr>
          <p:nvPr/>
        </p:nvSpPr>
        <p:spPr>
          <a:xfrm xmlns:a="http://schemas.openxmlformats.org/drawingml/2006/main">
            <a:off x="4162425" y="2952750"/>
            <a:ext cx="7343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0182B"/>
                </a:solidFill>
                <a:latin typeface="Helvetica Neue"/>
                <a:ea typeface="Helvetica Neue"/>
                <a:cs typeface="Helvetica Neue"/>
              </a:defRPr>
            </a:pPr>
            <a:r>
              <a:rPr sz="2100" b="0">
                <a:solidFill>
                  <a:srgbClr val="10182B"/>
                </a:solidFill>
                <a:latin typeface="Helvetica Neue"/>
                <a:ea typeface="Helvetica Neue"/>
                <a:cs typeface="Helvetica Neue"/>
              </a:rPr>
              <a:t>¿Quién puede abrirlo?</a:t>
            </a:r>
          </a:p>
        </p:txBody>
      </p:sp>
      <p:sp>
        <p:nvSpPr>
          <p:cNvPr id="7" name="texto">
            <a:extLst xmlns:a="http://schemas.openxmlformats.org/drawingml/2006/main">
              <a:ext uri="{FF2B5EF4-FFF2-40B4-BE49-F238E27FC236}">
                <a16:creationId xmlns:a16="http://schemas.microsoft.com/office/drawing/2014/main" id="{2A0B5264-0BC3-4629-BA43-3155FCD1E449}"/>
              </a:ext>
            </a:extLst>
          </p:cNvPr>
          <p:cNvSpPr>
            <a:spLocks xmlns:a="http://schemas.openxmlformats.org/drawingml/2006/main" noGrp="1"/>
          </p:cNvSpPr>
          <p:nvPr/>
        </p:nvSpPr>
        <p:spPr>
          <a:xfrm xmlns:a="http://schemas.openxmlformats.org/drawingml/2006/main">
            <a:off x="685800" y="3952875"/>
            <a:ext cx="304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Evidencia</a:t>
            </a:r>
          </a:p>
        </p:txBody>
      </p:sp>
      <p:sp>
        <p:nvSpPr>
          <p:cNvPr id="8" name="texto">
            <a:extLst xmlns:a="http://schemas.openxmlformats.org/drawingml/2006/main">
              <a:ext uri="{FF2B5EF4-FFF2-40B4-BE49-F238E27FC236}">
                <a16:creationId xmlns:a16="http://schemas.microsoft.com/office/drawing/2014/main" id="{26F9897F-ACD2-426E-ABE5-2E197A4972F8}"/>
              </a:ext>
            </a:extLst>
          </p:cNvPr>
          <p:cNvSpPr>
            <a:spLocks xmlns:a="http://schemas.openxmlformats.org/drawingml/2006/main" noGrp="1"/>
          </p:cNvSpPr>
          <p:nvPr/>
        </p:nvSpPr>
        <p:spPr>
          <a:xfrm xmlns:a="http://schemas.openxmlformats.org/drawingml/2006/main">
            <a:off x="4162425" y="3952875"/>
            <a:ext cx="7343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0182B"/>
                </a:solidFill>
                <a:latin typeface="Helvetica Neue"/>
                <a:ea typeface="Helvetica Neue"/>
                <a:cs typeface="Helvetica Neue"/>
              </a:defRPr>
            </a:pPr>
            <a:r>
              <a:rPr sz="2100" b="0">
                <a:solidFill>
                  <a:srgbClr val="10182B"/>
                </a:solidFill>
                <a:latin typeface="Helvetica Neue"/>
                <a:ea typeface="Helvetica Neue"/>
                <a:cs typeface="Helvetica Neue"/>
              </a:rPr>
              <a:t>¿Podemos probar la autorización?</a:t>
            </a:r>
          </a:p>
        </p:txBody>
      </p:sp>
      <p:sp>
        <p:nvSpPr>
          <p:cNvPr id="9" name="texto">
            <a:extLst xmlns:a="http://schemas.openxmlformats.org/drawingml/2006/main">
              <a:ext uri="{FF2B5EF4-FFF2-40B4-BE49-F238E27FC236}">
                <a16:creationId xmlns:a16="http://schemas.microsoft.com/office/drawing/2014/main" id="{047AED28-ECAD-4375-B2BB-B0B476C08FB1}"/>
              </a:ext>
            </a:extLst>
          </p:cNvPr>
          <p:cNvSpPr>
            <a:spLocks xmlns:a="http://schemas.openxmlformats.org/drawingml/2006/main" noGrp="1"/>
          </p:cNvSpPr>
          <p:nvPr/>
        </p:nvSpPr>
        <p:spPr>
          <a:xfrm xmlns:a="http://schemas.openxmlformats.org/drawingml/2006/main">
            <a:off x="685800" y="5381625"/>
            <a:ext cx="876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087E83"/>
                </a:solidFill>
                <a:latin typeface="Helvetica Neue"/>
                <a:ea typeface="Helvetica Neue"/>
                <a:cs typeface="Helvetica Neue"/>
              </a:defRPr>
            </a:pPr>
            <a:r>
              <a:rPr sz="1950" b="1">
                <a:solidFill>
                  <a:srgbClr val="087E83"/>
                </a:solidFill>
                <a:latin typeface="Helvetica Neue"/>
                <a:ea typeface="Helvetica Neue"/>
                <a:cs typeface="Helvetica Neue"/>
              </a:rPr>
              <a:t>La ANPD fiscaliza y puede sancionar infracciones</a:t>
            </a:r>
          </a:p>
        </p:txBody>
      </p:sp>
    </p:spTree>
    <p:extLst>
      <p:ext uri="{BB962C8B-B14F-4D97-AF65-F5344CB8AC3E}">
        <p14:creationId xmlns:p14="http://schemas.microsoft.com/office/powerpoint/2010/main" val="1564455244"/>
      </p:ext>
    </p:extLst>
  </p:cSld>
</p:sld>
</file>

<file path=ppt/slides/slide1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texto">
            <a:extLst xmlns:a="http://schemas.openxmlformats.org/drawingml/2006/main">
              <a:ext uri="{FF2B5EF4-FFF2-40B4-BE49-F238E27FC236}">
                <a16:creationId xmlns:a16="http://schemas.microsoft.com/office/drawing/2014/main" id="{E30F47ED-91CD-48B2-AC63-9C504DC0E6CA}"/>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10182B"/>
                </a:solidFill>
                <a:latin typeface="Helvetica Neue"/>
                <a:ea typeface="Helvetica Neue"/>
                <a:cs typeface="Helvetica Neue"/>
              </a:defRPr>
            </a:pPr>
            <a:r>
              <a:rPr sz="3750" b="1">
                <a:solidFill>
                  <a:srgbClr val="10182B"/>
                </a:solidFill>
                <a:latin typeface="Helvetica Neue"/>
                <a:ea typeface="Helvetica Neue"/>
                <a:cs typeface="Helvetica Neue"/>
              </a:rPr>
              <a:t>La imagen y la voz también cuentan</a:t>
            </a:r>
          </a:p>
        </p:txBody>
      </p:sp>
      <p:sp>
        <p:nvSpPr>
          <p:cNvPr id="2" name="texto">
            <a:extLst xmlns:a="http://schemas.openxmlformats.org/drawingml/2006/main">
              <a:ext uri="{FF2B5EF4-FFF2-40B4-BE49-F238E27FC236}">
                <a16:creationId xmlns:a16="http://schemas.microsoft.com/office/drawing/2014/main" id="{627DE0DB-5875-465A-B6CA-7BB397E38E87}"/>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566276"/>
                </a:solidFill>
                <a:latin typeface="Helvetica Neue"/>
                <a:ea typeface="Helvetica Neue"/>
                <a:cs typeface="Helvetica Neue"/>
              </a:defRPr>
            </a:pPr>
            <a:r>
              <a:rPr sz="1650" b="0">
                <a:solidFill>
                  <a:srgbClr val="566276"/>
                </a:solidFill>
                <a:latin typeface="Helvetica Neue"/>
                <a:ea typeface="Helvetica Neue"/>
                <a:cs typeface="Helvetica Neue"/>
              </a:rPr>
              <a:t>17</a:t>
            </a:r>
          </a:p>
        </p:txBody>
      </p:sp>
      <p:sp>
        <p:nvSpPr>
          <p:cNvPr id="3" name="texto">
            <a:extLst xmlns:a="http://schemas.openxmlformats.org/drawingml/2006/main">
              <a:ext uri="{FF2B5EF4-FFF2-40B4-BE49-F238E27FC236}">
                <a16:creationId xmlns:a16="http://schemas.microsoft.com/office/drawing/2014/main" id="{FF9ED21A-524F-4F43-B6D0-CB17D6513C40}"/>
              </a:ext>
            </a:extLst>
          </p:cNvPr>
          <p:cNvSpPr>
            <a:spLocks xmlns:a="http://schemas.openxmlformats.org/drawingml/2006/main" noGrp="1"/>
          </p:cNvSpPr>
          <p:nvPr/>
        </p:nvSpPr>
        <p:spPr>
          <a:xfrm xmlns:a="http://schemas.openxmlformats.org/drawingml/2006/main">
            <a:off x="685800" y="2333625"/>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675" b="1">
                <a:solidFill>
                  <a:srgbClr val="087E83"/>
                </a:solidFill>
                <a:latin typeface="Helvetica Neue"/>
                <a:ea typeface="Helvetica Neue"/>
                <a:cs typeface="Helvetica Neue"/>
              </a:defRPr>
            </a:pPr>
            <a:r>
              <a:rPr sz="3675" b="1">
                <a:solidFill>
                  <a:srgbClr val="087E83"/>
                </a:solidFill>
                <a:latin typeface="Helvetica Neue"/>
                <a:ea typeface="Helvetica Neue"/>
                <a:cs typeface="Helvetica Neue"/>
              </a:rPr>
              <a:t>Permiso para grabar</a:t>
            </a:r>
          </a:p>
          <a:p xmlns:a="http://schemas.openxmlformats.org/drawingml/2006/main">
            <a:pPr algn="l">
              <a:defRPr sz="3675" b="1">
                <a:solidFill>
                  <a:srgbClr val="087E83"/>
                </a:solidFill>
                <a:latin typeface="Helvetica Neue"/>
                <a:ea typeface="Helvetica Neue"/>
                <a:cs typeface="Helvetica Neue"/>
              </a:defRPr>
            </a:pPr>
            <a:r>
              <a:rPr sz="3675" b="1">
                <a:solidFill>
                  <a:srgbClr val="087E83"/>
                </a:solidFill>
                <a:latin typeface="Helvetica Neue"/>
                <a:ea typeface="Helvetica Neue"/>
                <a:cs typeface="Helvetica Neue"/>
              </a:rPr>
              <a:t>y para publicar</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16d434010b043c8"/>
          <a:stretch xmlns:a="http://schemas.openxmlformats.org/drawingml/2006/main"/>
        </p:blipFill>
        <p:spPr>
          <a:xfrm xmlns:a="http://schemas.openxmlformats.org/drawingml/2006/main">
            <a:off x="5953125" y="1837194"/>
            <a:ext cx="5572125" cy="3135987"/>
          </a:xfrm>
          <a:prstGeom xmlns:a="http://schemas.openxmlformats.org/drawingml/2006/main" prst="rect">
            <a:avLst/>
          </a:prstGeom>
        </p:spPr>
      </p:pic>
      <p:sp>
        <p:nvSpPr>
          <p:cNvPr id="5" name="texto">
            <a:extLst xmlns:a="http://schemas.openxmlformats.org/drawingml/2006/main">
              <a:ext uri="{FF2B5EF4-FFF2-40B4-BE49-F238E27FC236}">
                <a16:creationId xmlns:a16="http://schemas.microsoft.com/office/drawing/2014/main" id="{10F75519-2842-435C-9D98-C096DA4092A0}"/>
              </a:ext>
            </a:extLst>
          </p:cNvPr>
          <p:cNvSpPr>
            <a:spLocks xmlns:a="http://schemas.openxmlformats.org/drawingml/2006/main" noGrp="1"/>
          </p:cNvSpPr>
          <p:nvPr/>
        </p:nvSpPr>
        <p:spPr>
          <a:xfrm xmlns:a="http://schemas.openxmlformats.org/drawingml/2006/main">
            <a:off x="685800" y="5381625"/>
            <a:ext cx="876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087E83"/>
                </a:solidFill>
                <a:latin typeface="Helvetica Neue"/>
                <a:ea typeface="Helvetica Neue"/>
                <a:cs typeface="Helvetica Neue"/>
              </a:defRPr>
            </a:pPr>
            <a:r>
              <a:rPr sz="1950" b="1">
                <a:solidFill>
                  <a:srgbClr val="087E83"/>
                </a:solidFill>
                <a:latin typeface="Helvetica Neue"/>
                <a:ea typeface="Helvetica Neue"/>
                <a:cs typeface="Helvetica Neue"/>
              </a:rPr>
              <a:t>El encuadre puede revelar datos de otras personas</a:t>
            </a:r>
          </a:p>
        </p:txBody>
      </p:sp>
    </p:spTree>
    <p:extLst>
      <p:ext uri="{BB962C8B-B14F-4D97-AF65-F5344CB8AC3E}">
        <p14:creationId xmlns:p14="http://schemas.microsoft.com/office/powerpoint/2010/main" val="237461836"/>
      </p:ext>
    </p:extLst>
  </p:cSld>
</p:sld>
</file>

<file path=ppt/slides/slide1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exto">
            <a:extLst xmlns:a="http://schemas.openxmlformats.org/drawingml/2006/main">
              <a:ext uri="{FF2B5EF4-FFF2-40B4-BE49-F238E27FC236}">
                <a16:creationId xmlns:a16="http://schemas.microsoft.com/office/drawing/2014/main" id="{B25DAB6E-39B1-4BD6-A327-7BF6BF36F2C5}"/>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10182B"/>
                </a:solidFill>
                <a:latin typeface="Helvetica Neue"/>
                <a:ea typeface="Helvetica Neue"/>
                <a:cs typeface="Helvetica Neue"/>
              </a:defRPr>
            </a:pPr>
            <a:r>
              <a:rPr sz="3750" b="1">
                <a:solidFill>
                  <a:srgbClr val="10182B"/>
                </a:solidFill>
                <a:latin typeface="Helvetica Neue"/>
                <a:ea typeface="Helvetica Neue"/>
                <a:cs typeface="Helvetica Neue"/>
              </a:rPr>
              <a:t>Decisiones que reducen el riesgo</a:t>
            </a:r>
          </a:p>
        </p:txBody>
      </p:sp>
      <p:sp>
        <p:nvSpPr>
          <p:cNvPr id="2" name="texto">
            <a:extLst xmlns:a="http://schemas.openxmlformats.org/drawingml/2006/main">
              <a:ext uri="{FF2B5EF4-FFF2-40B4-BE49-F238E27FC236}">
                <a16:creationId xmlns:a16="http://schemas.microsoft.com/office/drawing/2014/main" id="{4FD1AAC0-C260-48AB-86A8-BAB5DB4D9026}"/>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566276"/>
                </a:solidFill>
                <a:latin typeface="Helvetica Neue"/>
                <a:ea typeface="Helvetica Neue"/>
                <a:cs typeface="Helvetica Neue"/>
              </a:defRPr>
            </a:pPr>
            <a:r>
              <a:rPr sz="1650" b="0">
                <a:solidFill>
                  <a:srgbClr val="566276"/>
                </a:solidFill>
                <a:latin typeface="Helvetica Neue"/>
                <a:ea typeface="Helvetica Neue"/>
                <a:cs typeface="Helvetica Neue"/>
              </a:rPr>
              <a:t>18</a:t>
            </a:r>
          </a:p>
        </p:txBody>
      </p:sp>
      <p:sp>
        <p:nvSpPr>
          <p:cNvPr id="3" name="texto">
            <a:extLst xmlns:a="http://schemas.openxmlformats.org/drawingml/2006/main">
              <a:ext uri="{FF2B5EF4-FFF2-40B4-BE49-F238E27FC236}">
                <a16:creationId xmlns:a16="http://schemas.microsoft.com/office/drawing/2014/main" id="{6BFA3F78-A443-4196-BE5C-64456DAEA259}"/>
              </a:ext>
            </a:extLst>
          </p:cNvPr>
          <p:cNvSpPr>
            <a:spLocks xmlns:a="http://schemas.openxmlformats.org/drawingml/2006/main" noGrp="1"/>
          </p:cNvSpPr>
          <p:nvPr/>
        </p:nvSpPr>
        <p:spPr>
          <a:xfrm xmlns:a="http://schemas.openxmlformats.org/drawingml/2006/main">
            <a:off x="685800" y="176212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087E83"/>
                </a:solidFill>
                <a:latin typeface="Helvetica Neue"/>
                <a:ea typeface="Helvetica Neue"/>
                <a:cs typeface="Helvetica Neue"/>
              </a:defRPr>
            </a:pPr>
            <a:r>
              <a:rPr sz="2850" b="1">
                <a:solidFill>
                  <a:srgbClr val="087E83"/>
                </a:solidFill>
                <a:latin typeface="Helvetica Neue"/>
                <a:ea typeface="Helvetica Neue"/>
                <a:cs typeface="Helvetica Neue"/>
              </a:rPr>
              <a:t>01</a:t>
            </a:r>
          </a:p>
        </p:txBody>
      </p:sp>
      <p:sp>
        <p:nvSpPr>
          <p:cNvPr id="4" name="texto">
            <a:extLst xmlns:a="http://schemas.openxmlformats.org/drawingml/2006/main">
              <a:ext uri="{FF2B5EF4-FFF2-40B4-BE49-F238E27FC236}">
                <a16:creationId xmlns:a16="http://schemas.microsoft.com/office/drawing/2014/main" id="{5DDB9520-0CD2-4812-9C6A-A9FA3877E570}"/>
              </a:ext>
            </a:extLst>
          </p:cNvPr>
          <p:cNvSpPr>
            <a:spLocks xmlns:a="http://schemas.openxmlformats.org/drawingml/2006/main" noGrp="1"/>
          </p:cNvSpPr>
          <p:nvPr/>
        </p:nvSpPr>
        <p:spPr>
          <a:xfrm xmlns:a="http://schemas.openxmlformats.org/drawingml/2006/main">
            <a:off x="1809750" y="1762125"/>
            <a:ext cx="909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10182B"/>
                </a:solidFill>
                <a:latin typeface="Helvetica Neue"/>
                <a:ea typeface="Helvetica Neue"/>
                <a:cs typeface="Helvetica Neue"/>
              </a:defRPr>
            </a:pPr>
            <a:r>
              <a:rPr sz="2550" b="0">
                <a:solidFill>
                  <a:srgbClr val="10182B"/>
                </a:solidFill>
                <a:latin typeface="Helvetica Neue"/>
                <a:ea typeface="Helvetica Neue"/>
                <a:cs typeface="Helvetica Neue"/>
              </a:rPr>
              <a:t>Revisar para qué piden tus datos</a:t>
            </a:r>
          </a:p>
        </p:txBody>
      </p:sp>
      <p:sp>
        <p:nvSpPr>
          <p:cNvPr id="5" name="texto">
            <a:extLst xmlns:a="http://schemas.openxmlformats.org/drawingml/2006/main">
              <a:ext uri="{FF2B5EF4-FFF2-40B4-BE49-F238E27FC236}">
                <a16:creationId xmlns:a16="http://schemas.microsoft.com/office/drawing/2014/main" id="{60774585-71F5-445F-BBAA-34C71693D034}"/>
              </a:ext>
            </a:extLst>
          </p:cNvPr>
          <p:cNvSpPr>
            <a:spLocks xmlns:a="http://schemas.openxmlformats.org/drawingml/2006/main" noGrp="1"/>
          </p:cNvSpPr>
          <p:nvPr/>
        </p:nvSpPr>
        <p:spPr>
          <a:xfrm xmlns:a="http://schemas.openxmlformats.org/drawingml/2006/main">
            <a:off x="685800" y="258127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087E83"/>
                </a:solidFill>
                <a:latin typeface="Helvetica Neue"/>
                <a:ea typeface="Helvetica Neue"/>
                <a:cs typeface="Helvetica Neue"/>
              </a:defRPr>
            </a:pPr>
            <a:r>
              <a:rPr sz="2850" b="1">
                <a:solidFill>
                  <a:srgbClr val="087E83"/>
                </a:solidFill>
                <a:latin typeface="Helvetica Neue"/>
                <a:ea typeface="Helvetica Neue"/>
                <a:cs typeface="Helvetica Neue"/>
              </a:rPr>
              <a:t>02</a:t>
            </a:r>
          </a:p>
        </p:txBody>
      </p:sp>
      <p:sp>
        <p:nvSpPr>
          <p:cNvPr id="6" name="texto">
            <a:extLst xmlns:a="http://schemas.openxmlformats.org/drawingml/2006/main">
              <a:ext uri="{FF2B5EF4-FFF2-40B4-BE49-F238E27FC236}">
                <a16:creationId xmlns:a16="http://schemas.microsoft.com/office/drawing/2014/main" id="{A5DCF8DD-0809-4793-83EC-336860459217}"/>
              </a:ext>
            </a:extLst>
          </p:cNvPr>
          <p:cNvSpPr>
            <a:spLocks xmlns:a="http://schemas.openxmlformats.org/drawingml/2006/main" noGrp="1"/>
          </p:cNvSpPr>
          <p:nvPr/>
        </p:nvSpPr>
        <p:spPr>
          <a:xfrm xmlns:a="http://schemas.openxmlformats.org/drawingml/2006/main">
            <a:off x="1809750" y="2581275"/>
            <a:ext cx="909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10182B"/>
                </a:solidFill>
                <a:latin typeface="Helvetica Neue"/>
                <a:ea typeface="Helvetica Neue"/>
                <a:cs typeface="Helvetica Neue"/>
              </a:defRPr>
            </a:pPr>
            <a:r>
              <a:rPr sz="2550" b="0">
                <a:solidFill>
                  <a:srgbClr val="10182B"/>
                </a:solidFill>
                <a:latin typeface="Helvetica Neue"/>
                <a:ea typeface="Helvetica Neue"/>
                <a:cs typeface="Helvetica Neue"/>
              </a:rPr>
              <a:t>Verificar el canal antes de enviarlos</a:t>
            </a:r>
          </a:p>
        </p:txBody>
      </p:sp>
      <p:sp>
        <p:nvSpPr>
          <p:cNvPr id="7" name="texto">
            <a:extLst xmlns:a="http://schemas.openxmlformats.org/drawingml/2006/main">
              <a:ext uri="{FF2B5EF4-FFF2-40B4-BE49-F238E27FC236}">
                <a16:creationId xmlns:a16="http://schemas.microsoft.com/office/drawing/2014/main" id="{B9A9E7F1-DEC6-4E36-BDDE-DC9F68C0C87B}"/>
              </a:ext>
            </a:extLst>
          </p:cNvPr>
          <p:cNvSpPr>
            <a:spLocks xmlns:a="http://schemas.openxmlformats.org/drawingml/2006/main" noGrp="1"/>
          </p:cNvSpPr>
          <p:nvPr/>
        </p:nvSpPr>
        <p:spPr>
          <a:xfrm xmlns:a="http://schemas.openxmlformats.org/drawingml/2006/main">
            <a:off x="685800" y="340042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087E83"/>
                </a:solidFill>
                <a:latin typeface="Helvetica Neue"/>
                <a:ea typeface="Helvetica Neue"/>
                <a:cs typeface="Helvetica Neue"/>
              </a:defRPr>
            </a:pPr>
            <a:r>
              <a:rPr sz="2850" b="1">
                <a:solidFill>
                  <a:srgbClr val="087E83"/>
                </a:solidFill>
                <a:latin typeface="Helvetica Neue"/>
                <a:ea typeface="Helvetica Neue"/>
                <a:cs typeface="Helvetica Neue"/>
              </a:rPr>
              <a:t>03</a:t>
            </a:r>
          </a:p>
        </p:txBody>
      </p:sp>
      <p:sp>
        <p:nvSpPr>
          <p:cNvPr id="8" name="texto">
            <a:extLst xmlns:a="http://schemas.openxmlformats.org/drawingml/2006/main">
              <a:ext uri="{FF2B5EF4-FFF2-40B4-BE49-F238E27FC236}">
                <a16:creationId xmlns:a16="http://schemas.microsoft.com/office/drawing/2014/main" id="{7A89D611-BE2E-4642-ADBB-4B29B2562509}"/>
              </a:ext>
            </a:extLst>
          </p:cNvPr>
          <p:cNvSpPr>
            <a:spLocks xmlns:a="http://schemas.openxmlformats.org/drawingml/2006/main" noGrp="1"/>
          </p:cNvSpPr>
          <p:nvPr/>
        </p:nvSpPr>
        <p:spPr>
          <a:xfrm xmlns:a="http://schemas.openxmlformats.org/drawingml/2006/main">
            <a:off x="1809750" y="3400425"/>
            <a:ext cx="909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10182B"/>
                </a:solidFill>
                <a:latin typeface="Helvetica Neue"/>
                <a:ea typeface="Helvetica Neue"/>
                <a:cs typeface="Helvetica Neue"/>
              </a:defRPr>
            </a:pPr>
            <a:r>
              <a:rPr sz="2550" b="0">
                <a:solidFill>
                  <a:srgbClr val="10182B"/>
                </a:solidFill>
                <a:latin typeface="Helvetica Neue"/>
                <a:ea typeface="Helvetica Neue"/>
                <a:cs typeface="Helvetica Neue"/>
              </a:rPr>
              <a:t>Ocultar datos ajenos en capturas</a:t>
            </a:r>
          </a:p>
        </p:txBody>
      </p:sp>
      <p:sp>
        <p:nvSpPr>
          <p:cNvPr id="9" name="texto">
            <a:extLst xmlns:a="http://schemas.openxmlformats.org/drawingml/2006/main">
              <a:ext uri="{FF2B5EF4-FFF2-40B4-BE49-F238E27FC236}">
                <a16:creationId xmlns:a16="http://schemas.microsoft.com/office/drawing/2014/main" id="{80E3EEE8-E97F-4EB4-B80C-824E7923F693}"/>
              </a:ext>
            </a:extLst>
          </p:cNvPr>
          <p:cNvSpPr>
            <a:spLocks xmlns:a="http://schemas.openxmlformats.org/drawingml/2006/main" noGrp="1"/>
          </p:cNvSpPr>
          <p:nvPr/>
        </p:nvSpPr>
        <p:spPr>
          <a:xfrm xmlns:a="http://schemas.openxmlformats.org/drawingml/2006/main">
            <a:off x="685800" y="421957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087E83"/>
                </a:solidFill>
                <a:latin typeface="Helvetica Neue"/>
                <a:ea typeface="Helvetica Neue"/>
                <a:cs typeface="Helvetica Neue"/>
              </a:defRPr>
            </a:pPr>
            <a:r>
              <a:rPr sz="2850" b="1">
                <a:solidFill>
                  <a:srgbClr val="087E83"/>
                </a:solidFill>
                <a:latin typeface="Helvetica Neue"/>
                <a:ea typeface="Helvetica Neue"/>
                <a:cs typeface="Helvetica Neue"/>
              </a:rPr>
              <a:t>04</a:t>
            </a:r>
          </a:p>
        </p:txBody>
      </p:sp>
      <p:sp>
        <p:nvSpPr>
          <p:cNvPr id="10" name="texto">
            <a:extLst xmlns:a="http://schemas.openxmlformats.org/drawingml/2006/main">
              <a:ext uri="{FF2B5EF4-FFF2-40B4-BE49-F238E27FC236}">
                <a16:creationId xmlns:a16="http://schemas.microsoft.com/office/drawing/2014/main" id="{EED35C0E-8882-4867-82EE-872637E86BE7}"/>
              </a:ext>
            </a:extLst>
          </p:cNvPr>
          <p:cNvSpPr>
            <a:spLocks xmlns:a="http://schemas.openxmlformats.org/drawingml/2006/main" noGrp="1"/>
          </p:cNvSpPr>
          <p:nvPr/>
        </p:nvSpPr>
        <p:spPr>
          <a:xfrm xmlns:a="http://schemas.openxmlformats.org/drawingml/2006/main">
            <a:off x="1809750" y="4219575"/>
            <a:ext cx="909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10182B"/>
                </a:solidFill>
                <a:latin typeface="Helvetica Neue"/>
                <a:ea typeface="Helvetica Neue"/>
                <a:cs typeface="Helvetica Neue"/>
              </a:defRPr>
            </a:pPr>
            <a:r>
              <a:rPr sz="2550" b="0">
                <a:solidFill>
                  <a:srgbClr val="10182B"/>
                </a:solidFill>
                <a:latin typeface="Helvetica Neue"/>
                <a:ea typeface="Helvetica Neue"/>
                <a:cs typeface="Helvetica Neue"/>
              </a:rPr>
              <a:t>Activar la verificación en dos pasos</a:t>
            </a:r>
          </a:p>
        </p:txBody>
      </p:sp>
      <p:sp>
        <p:nvSpPr>
          <p:cNvPr id="11" name="texto">
            <a:extLst xmlns:a="http://schemas.openxmlformats.org/drawingml/2006/main">
              <a:ext uri="{FF2B5EF4-FFF2-40B4-BE49-F238E27FC236}">
                <a16:creationId xmlns:a16="http://schemas.microsoft.com/office/drawing/2014/main" id="{9E223FE8-ECB2-49A7-ACF0-28BE56330B05}"/>
              </a:ext>
            </a:extLst>
          </p:cNvPr>
          <p:cNvSpPr>
            <a:spLocks xmlns:a="http://schemas.openxmlformats.org/drawingml/2006/main" noGrp="1"/>
          </p:cNvSpPr>
          <p:nvPr/>
        </p:nvSpPr>
        <p:spPr>
          <a:xfrm xmlns:a="http://schemas.openxmlformats.org/drawingml/2006/main">
            <a:off x="685800" y="5381625"/>
            <a:ext cx="876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087E83"/>
                </a:solidFill>
                <a:latin typeface="Helvetica Neue"/>
                <a:ea typeface="Helvetica Neue"/>
                <a:cs typeface="Helvetica Neue"/>
              </a:defRPr>
            </a:pPr>
            <a:r>
              <a:rPr sz="1950" b="1">
                <a:solidFill>
                  <a:srgbClr val="087E83"/>
                </a:solidFill>
                <a:latin typeface="Helvetica Neue"/>
                <a:ea typeface="Helvetica Neue"/>
                <a:cs typeface="Helvetica Neue"/>
              </a:rPr>
              <a:t>La entidad sigue siendo responsable de su tratamiento</a:t>
            </a:r>
          </a:p>
        </p:txBody>
      </p:sp>
    </p:spTree>
    <p:extLst>
      <p:ext uri="{BB962C8B-B14F-4D97-AF65-F5344CB8AC3E}">
        <p14:creationId xmlns:p14="http://schemas.microsoft.com/office/powerpoint/2010/main" val="1636246116"/>
      </p:ext>
    </p:extLst>
  </p:cSld>
</p:sld>
</file>

<file path=ppt/slides/slide19.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0" name="texto">
            <a:extLst xmlns:a="http://schemas.openxmlformats.org/drawingml/2006/main">
              <a:ext uri="{FF2B5EF4-FFF2-40B4-BE49-F238E27FC236}">
                <a16:creationId xmlns:a16="http://schemas.microsoft.com/office/drawing/2014/main" id="{7CC2D7E1-8F6F-449B-A7D0-0631A52A45D8}"/>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F5F1E8"/>
                </a:solidFill>
                <a:latin typeface="Helvetica Neue"/>
                <a:ea typeface="Helvetica Neue"/>
                <a:cs typeface="Helvetica Neue"/>
              </a:defRPr>
            </a:pPr>
            <a:r>
              <a:rPr sz="3750" b="1">
                <a:solidFill>
                  <a:srgbClr val="F5F1E8"/>
                </a:solidFill>
                <a:latin typeface="Helvetica Neue"/>
                <a:ea typeface="Helvetica Neue"/>
                <a:cs typeface="Helvetica Neue"/>
              </a:rPr>
              <a:t>Reto final: verdadero o falso</a:t>
            </a:r>
          </a:p>
        </p:txBody>
      </p:sp>
      <p:sp>
        <p:nvSpPr>
          <p:cNvPr id="2" name="texto">
            <a:extLst xmlns:a="http://schemas.openxmlformats.org/drawingml/2006/main">
              <a:ext uri="{FF2B5EF4-FFF2-40B4-BE49-F238E27FC236}">
                <a16:creationId xmlns:a16="http://schemas.microsoft.com/office/drawing/2014/main" id="{A6DB7B82-3A5B-41D1-953F-90DD0CE2E8D1}"/>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B4C1D4"/>
                </a:solidFill>
                <a:latin typeface="Helvetica Neue"/>
                <a:ea typeface="Helvetica Neue"/>
                <a:cs typeface="Helvetica Neue"/>
              </a:defRPr>
            </a:pPr>
            <a:r>
              <a:rPr sz="1650" b="0">
                <a:solidFill>
                  <a:srgbClr val="B4C1D4"/>
                </a:solidFill>
                <a:latin typeface="Helvetica Neue"/>
                <a:ea typeface="Helvetica Neue"/>
                <a:cs typeface="Helvetica Neue"/>
              </a:rPr>
              <a:t>19</a:t>
            </a:r>
          </a:p>
        </p:txBody>
      </p:sp>
      <p:sp>
        <p:nvSpPr>
          <p:cNvPr id="3" name="texto">
            <a:extLst xmlns:a="http://schemas.openxmlformats.org/drawingml/2006/main">
              <a:ext uri="{FF2B5EF4-FFF2-40B4-BE49-F238E27FC236}">
                <a16:creationId xmlns:a16="http://schemas.microsoft.com/office/drawing/2014/main" id="{E2754BC7-B9B5-4576-A9DE-2DF57CB42ED6}"/>
              </a:ext>
            </a:extLst>
          </p:cNvPr>
          <p:cNvSpPr>
            <a:spLocks xmlns:a="http://schemas.openxmlformats.org/drawingml/2006/main" noGrp="1"/>
          </p:cNvSpPr>
          <p:nvPr/>
        </p:nvSpPr>
        <p:spPr>
          <a:xfrm xmlns:a="http://schemas.openxmlformats.org/drawingml/2006/main">
            <a:off x="685800" y="180975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75DDD5"/>
                </a:solidFill>
                <a:latin typeface="Helvetica Neue"/>
                <a:ea typeface="Helvetica Neue"/>
                <a:cs typeface="Helvetica Neue"/>
              </a:defRPr>
            </a:pPr>
            <a:r>
              <a:rPr sz="2850" b="1">
                <a:solidFill>
                  <a:srgbClr val="75DDD5"/>
                </a:solidFill>
                <a:latin typeface="Helvetica Neue"/>
                <a:ea typeface="Helvetica Neue"/>
                <a:cs typeface="Helvetica Neue"/>
              </a:rPr>
              <a:t>01</a:t>
            </a:r>
          </a:p>
        </p:txBody>
      </p:sp>
      <p:sp>
        <p:nvSpPr>
          <p:cNvPr id="4" name="texto">
            <a:extLst xmlns:a="http://schemas.openxmlformats.org/drawingml/2006/main">
              <a:ext uri="{FF2B5EF4-FFF2-40B4-BE49-F238E27FC236}">
                <a16:creationId xmlns:a16="http://schemas.microsoft.com/office/drawing/2014/main" id="{22385661-7E87-498B-B315-74D5DCD45BE2}"/>
              </a:ext>
            </a:extLst>
          </p:cNvPr>
          <p:cNvSpPr>
            <a:spLocks xmlns:a="http://schemas.openxmlformats.org/drawingml/2006/main" noGrp="1"/>
          </p:cNvSpPr>
          <p:nvPr/>
        </p:nvSpPr>
        <p:spPr>
          <a:xfrm xmlns:a="http://schemas.openxmlformats.org/drawingml/2006/main">
            <a:off x="1809750" y="1809750"/>
            <a:ext cx="909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F5F1E8"/>
                </a:solidFill>
                <a:latin typeface="Helvetica Neue"/>
                <a:ea typeface="Helvetica Neue"/>
                <a:cs typeface="Helvetica Neue"/>
              </a:defRPr>
            </a:pPr>
            <a:r>
              <a:rPr sz="2550" b="0">
                <a:solidFill>
                  <a:srgbClr val="F5F1E8"/>
                </a:solidFill>
                <a:latin typeface="Helvetica Neue"/>
                <a:ea typeface="Helvetica Neue"/>
                <a:cs typeface="Helvetica Neue"/>
              </a:rPr>
              <a:t>Participar en un sorteo autoriza cualquier uso</a:t>
            </a:r>
          </a:p>
        </p:txBody>
      </p:sp>
      <p:sp>
        <p:nvSpPr>
          <p:cNvPr id="5" name="texto">
            <a:extLst xmlns:a="http://schemas.openxmlformats.org/drawingml/2006/main">
              <a:ext uri="{FF2B5EF4-FFF2-40B4-BE49-F238E27FC236}">
                <a16:creationId xmlns:a16="http://schemas.microsoft.com/office/drawing/2014/main" id="{BD026B40-517A-4BC8-9C6D-BA025CD0F293}"/>
              </a:ext>
            </a:extLst>
          </p:cNvPr>
          <p:cNvSpPr>
            <a:spLocks xmlns:a="http://schemas.openxmlformats.org/drawingml/2006/main" noGrp="1"/>
          </p:cNvSpPr>
          <p:nvPr/>
        </p:nvSpPr>
        <p:spPr>
          <a:xfrm xmlns:a="http://schemas.openxmlformats.org/drawingml/2006/main">
            <a:off x="685800" y="28575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75DDD5"/>
                </a:solidFill>
                <a:latin typeface="Helvetica Neue"/>
                <a:ea typeface="Helvetica Neue"/>
                <a:cs typeface="Helvetica Neue"/>
              </a:defRPr>
            </a:pPr>
            <a:r>
              <a:rPr sz="2850" b="1">
                <a:solidFill>
                  <a:srgbClr val="75DDD5"/>
                </a:solidFill>
                <a:latin typeface="Helvetica Neue"/>
                <a:ea typeface="Helvetica Neue"/>
                <a:cs typeface="Helvetica Neue"/>
              </a:rPr>
              <a:t>02</a:t>
            </a:r>
          </a:p>
        </p:txBody>
      </p:sp>
      <p:sp>
        <p:nvSpPr>
          <p:cNvPr id="6" name="texto">
            <a:extLst xmlns:a="http://schemas.openxmlformats.org/drawingml/2006/main">
              <a:ext uri="{FF2B5EF4-FFF2-40B4-BE49-F238E27FC236}">
                <a16:creationId xmlns:a16="http://schemas.microsoft.com/office/drawing/2014/main" id="{8D49A5B8-2E61-43CD-A8BA-37D30B49B032}"/>
              </a:ext>
            </a:extLst>
          </p:cNvPr>
          <p:cNvSpPr>
            <a:spLocks xmlns:a="http://schemas.openxmlformats.org/drawingml/2006/main" noGrp="1"/>
          </p:cNvSpPr>
          <p:nvPr/>
        </p:nvSpPr>
        <p:spPr>
          <a:xfrm xmlns:a="http://schemas.openxmlformats.org/drawingml/2006/main">
            <a:off x="1809750" y="2857500"/>
            <a:ext cx="909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F5F1E8"/>
                </a:solidFill>
                <a:latin typeface="Helvetica Neue"/>
                <a:ea typeface="Helvetica Neue"/>
                <a:cs typeface="Helvetica Neue"/>
              </a:defRPr>
            </a:pPr>
            <a:r>
              <a:rPr sz="2550" b="0">
                <a:solidFill>
                  <a:srgbClr val="F5F1E8"/>
                </a:solidFill>
                <a:latin typeface="Helvetica Neue"/>
                <a:ea typeface="Helvetica Neue"/>
                <a:cs typeface="Helvetica Neue"/>
              </a:rPr>
              <a:t>Puedo pedir que corrijan un dato incorrecto</a:t>
            </a:r>
          </a:p>
        </p:txBody>
      </p:sp>
      <p:sp>
        <p:nvSpPr>
          <p:cNvPr id="7" name="texto">
            <a:extLst xmlns:a="http://schemas.openxmlformats.org/drawingml/2006/main">
              <a:ext uri="{FF2B5EF4-FFF2-40B4-BE49-F238E27FC236}">
                <a16:creationId xmlns:a16="http://schemas.microsoft.com/office/drawing/2014/main" id="{D9A6F1D2-1CD7-4291-8D55-1A294AA5DE7B}"/>
              </a:ext>
            </a:extLst>
          </p:cNvPr>
          <p:cNvSpPr>
            <a:spLocks xmlns:a="http://schemas.openxmlformats.org/drawingml/2006/main" noGrp="1"/>
          </p:cNvSpPr>
          <p:nvPr/>
        </p:nvSpPr>
        <p:spPr>
          <a:xfrm xmlns:a="http://schemas.openxmlformats.org/drawingml/2006/main">
            <a:off x="685800" y="390525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75DDD5"/>
                </a:solidFill>
                <a:latin typeface="Helvetica Neue"/>
                <a:ea typeface="Helvetica Neue"/>
                <a:cs typeface="Helvetica Neue"/>
              </a:defRPr>
            </a:pPr>
            <a:r>
              <a:rPr sz="2850" b="1">
                <a:solidFill>
                  <a:srgbClr val="75DDD5"/>
                </a:solidFill>
                <a:latin typeface="Helvetica Neue"/>
                <a:ea typeface="Helvetica Neue"/>
                <a:cs typeface="Helvetica Neue"/>
              </a:rPr>
              <a:t>03</a:t>
            </a:r>
          </a:p>
        </p:txBody>
      </p:sp>
      <p:sp>
        <p:nvSpPr>
          <p:cNvPr id="8" name="texto">
            <a:extLst xmlns:a="http://schemas.openxmlformats.org/drawingml/2006/main">
              <a:ext uri="{FF2B5EF4-FFF2-40B4-BE49-F238E27FC236}">
                <a16:creationId xmlns:a16="http://schemas.microsoft.com/office/drawing/2014/main" id="{BF05252D-C412-473A-80CA-F91D26017169}"/>
              </a:ext>
            </a:extLst>
          </p:cNvPr>
          <p:cNvSpPr>
            <a:spLocks xmlns:a="http://schemas.openxmlformats.org/drawingml/2006/main" noGrp="1"/>
          </p:cNvSpPr>
          <p:nvPr/>
        </p:nvSpPr>
        <p:spPr>
          <a:xfrm xmlns:a="http://schemas.openxmlformats.org/drawingml/2006/main">
            <a:off x="1809750" y="3905250"/>
            <a:ext cx="909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F5F1E8"/>
                </a:solidFill>
                <a:latin typeface="Helvetica Neue"/>
                <a:ea typeface="Helvetica Neue"/>
                <a:cs typeface="Helvetica Neue"/>
              </a:defRPr>
            </a:pPr>
            <a:r>
              <a:rPr sz="2550" b="0">
                <a:solidFill>
                  <a:srgbClr val="F5F1E8"/>
                </a:solidFill>
                <a:latin typeface="Helvetica Neue"/>
                <a:ea typeface="Helvetica Neue"/>
                <a:cs typeface="Helvetica Neue"/>
              </a:rPr>
              <a:t>Una foto identificable puede ser un dato personal</a:t>
            </a:r>
          </a:p>
        </p:txBody>
      </p:sp>
      <p:sp>
        <p:nvSpPr>
          <p:cNvPr id="9" name="texto">
            <a:extLst xmlns:a="http://schemas.openxmlformats.org/drawingml/2006/main">
              <a:ext uri="{FF2B5EF4-FFF2-40B4-BE49-F238E27FC236}">
                <a16:creationId xmlns:a16="http://schemas.microsoft.com/office/drawing/2014/main" id="{51C4CD94-362A-4238-99C0-0946812EF93C}"/>
              </a:ext>
            </a:extLst>
          </p:cNvPr>
          <p:cNvSpPr>
            <a:spLocks xmlns:a="http://schemas.openxmlformats.org/drawingml/2006/main" noGrp="1"/>
          </p:cNvSpPr>
          <p:nvPr/>
        </p:nvSpPr>
        <p:spPr>
          <a:xfrm xmlns:a="http://schemas.openxmlformats.org/drawingml/2006/main">
            <a:off x="685800" y="5381625"/>
            <a:ext cx="876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75DDD5"/>
                </a:solidFill>
                <a:latin typeface="Helvetica Neue"/>
                <a:ea typeface="Helvetica Neue"/>
                <a:cs typeface="Helvetica Neue"/>
              </a:defRPr>
            </a:pPr>
            <a:r>
              <a:rPr sz="1950" b="1">
                <a:solidFill>
                  <a:srgbClr val="75DDD5"/>
                </a:solidFill>
                <a:latin typeface="Helvetica Neue"/>
                <a:ea typeface="Helvetica Neue"/>
                <a:cs typeface="Helvetica Neue"/>
              </a:rPr>
              <a:t>Piensa tu respuesta antes de avanzar</a:t>
            </a:r>
          </a:p>
        </p:txBody>
      </p:sp>
    </p:spTree>
    <p:extLst>
      <p:ext uri="{BB962C8B-B14F-4D97-AF65-F5344CB8AC3E}">
        <p14:creationId xmlns:p14="http://schemas.microsoft.com/office/powerpoint/2010/main" val="258789569"/>
      </p:ext>
    </p:extLst>
  </p:cSld>
</p:sld>
</file>

<file path=ppt/slides/slide20.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6" name="texto">
            <a:extLst xmlns:a="http://schemas.openxmlformats.org/drawingml/2006/main">
              <a:ext uri="{FF2B5EF4-FFF2-40B4-BE49-F238E27FC236}">
                <a16:creationId xmlns:a16="http://schemas.microsoft.com/office/drawing/2014/main" id="{4552109F-5C91-43D4-B9CA-759393569456}"/>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F5F1E8"/>
                </a:solidFill>
                <a:latin typeface="Helvetica Neue"/>
                <a:ea typeface="Helvetica Neue"/>
                <a:cs typeface="Helvetica Neue"/>
              </a:defRPr>
            </a:pPr>
            <a:r>
              <a:rPr sz="3750" b="1">
                <a:solidFill>
                  <a:srgbClr val="F5F1E8"/>
                </a:solidFill>
                <a:latin typeface="Helvetica Neue"/>
                <a:ea typeface="Helvetica Neue"/>
                <a:cs typeface="Helvetica Neue"/>
              </a:rPr>
              <a:t>Tu próximo paso</a:t>
            </a:r>
          </a:p>
        </p:txBody>
      </p:sp>
      <p:sp>
        <p:nvSpPr>
          <p:cNvPr id="2" name="texto">
            <a:extLst xmlns:a="http://schemas.openxmlformats.org/drawingml/2006/main">
              <a:ext uri="{FF2B5EF4-FFF2-40B4-BE49-F238E27FC236}">
                <a16:creationId xmlns:a16="http://schemas.microsoft.com/office/drawing/2014/main" id="{D706D3A5-95C8-4021-9492-1E67184180DE}"/>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B4C1D4"/>
                </a:solidFill>
                <a:latin typeface="Helvetica Neue"/>
                <a:ea typeface="Helvetica Neue"/>
                <a:cs typeface="Helvetica Neue"/>
              </a:defRPr>
            </a:pPr>
            <a:r>
              <a:rPr sz="1650" b="0">
                <a:solidFill>
                  <a:srgbClr val="B4C1D4"/>
                </a:solidFill>
                <a:latin typeface="Helvetica Neue"/>
                <a:ea typeface="Helvetica Neue"/>
                <a:cs typeface="Helvetica Neue"/>
              </a:rPr>
              <a:t>20</a:t>
            </a:r>
          </a:p>
        </p:txBody>
      </p:sp>
      <p:sp>
        <p:nvSpPr>
          <p:cNvPr id="3" name="texto">
            <a:extLst xmlns:a="http://schemas.openxmlformats.org/drawingml/2006/main">
              <a:ext uri="{FF2B5EF4-FFF2-40B4-BE49-F238E27FC236}">
                <a16:creationId xmlns:a16="http://schemas.microsoft.com/office/drawing/2014/main" id="{6965690F-F369-4F92-A0A8-57BC4903C702}"/>
              </a:ext>
            </a:extLst>
          </p:cNvPr>
          <p:cNvSpPr>
            <a:spLocks xmlns:a="http://schemas.openxmlformats.org/drawingml/2006/main" noGrp="1"/>
          </p:cNvSpPr>
          <p:nvPr/>
        </p:nvSpPr>
        <p:spPr>
          <a:xfrm xmlns:a="http://schemas.openxmlformats.org/drawingml/2006/main">
            <a:off x="685800" y="1657350"/>
            <a:ext cx="10382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100" b="1">
                <a:solidFill>
                  <a:srgbClr val="75DDD5"/>
                </a:solidFill>
                <a:latin typeface="Helvetica Neue"/>
                <a:ea typeface="Helvetica Neue"/>
                <a:cs typeface="Helvetica Neue"/>
              </a:defRPr>
            </a:pPr>
            <a:r>
              <a:rPr sz="8100" b="1">
                <a:solidFill>
                  <a:srgbClr val="75DDD5"/>
                </a:solidFill>
                <a:latin typeface="Helvetica Neue"/>
                <a:ea typeface="Helvetica Neue"/>
                <a:cs typeface="Helvetica Neue"/>
              </a:rPr>
              <a:t>F   V   V</a:t>
            </a:r>
          </a:p>
        </p:txBody>
      </p:sp>
      <p:sp>
        <p:nvSpPr>
          <p:cNvPr id="4" name="texto">
            <a:extLst xmlns:a="http://schemas.openxmlformats.org/drawingml/2006/main">
              <a:ext uri="{FF2B5EF4-FFF2-40B4-BE49-F238E27FC236}">
                <a16:creationId xmlns:a16="http://schemas.microsoft.com/office/drawing/2014/main" id="{1A4BBFF2-345D-4EB2-BF59-C5A785FBBD4A}"/>
              </a:ext>
            </a:extLst>
          </p:cNvPr>
          <p:cNvSpPr>
            <a:spLocks xmlns:a="http://schemas.openxmlformats.org/drawingml/2006/main" noGrp="1"/>
          </p:cNvSpPr>
          <p:nvPr/>
        </p:nvSpPr>
        <p:spPr>
          <a:xfrm xmlns:a="http://schemas.openxmlformats.org/drawingml/2006/main">
            <a:off x="685800" y="3505200"/>
            <a:ext cx="1000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525" b="1">
                <a:solidFill>
                  <a:srgbClr val="F5F1E8"/>
                </a:solidFill>
                <a:latin typeface="Helvetica Neue"/>
                <a:ea typeface="Helvetica Neue"/>
                <a:cs typeface="Helvetica Neue"/>
              </a:defRPr>
            </a:pPr>
            <a:r>
              <a:rPr sz="3525" b="1">
                <a:solidFill>
                  <a:srgbClr val="F5F1E8"/>
                </a:solidFill>
                <a:latin typeface="Helvetica Neue"/>
                <a:ea typeface="Helvetica Neue"/>
                <a:cs typeface="Helvetica Neue"/>
              </a:rPr>
              <a:t>Revisa hoy un permiso</a:t>
            </a:r>
          </a:p>
          <a:p xmlns:a="http://schemas.openxmlformats.org/drawingml/2006/main">
            <a:pPr algn="l">
              <a:defRPr sz="3525" b="1">
                <a:solidFill>
                  <a:srgbClr val="F5F1E8"/>
                </a:solidFill>
                <a:latin typeface="Helvetica Neue"/>
                <a:ea typeface="Helvetica Neue"/>
                <a:cs typeface="Helvetica Neue"/>
              </a:defRPr>
            </a:pPr>
            <a:r>
              <a:rPr sz="3525" b="1">
                <a:solidFill>
                  <a:srgbClr val="F5F1E8"/>
                </a:solidFill>
                <a:latin typeface="Helvetica Neue"/>
                <a:ea typeface="Helvetica Neue"/>
                <a:cs typeface="Helvetica Neue"/>
              </a:rPr>
              <a:t>o un formulario que utilizas</a:t>
            </a:r>
          </a:p>
        </p:txBody>
      </p:sp>
      <p:sp>
        <p:nvSpPr>
          <p:cNvPr id="5" name="texto">
            <a:extLst xmlns:a="http://schemas.openxmlformats.org/drawingml/2006/main">
              <a:ext uri="{FF2B5EF4-FFF2-40B4-BE49-F238E27FC236}">
                <a16:creationId xmlns:a16="http://schemas.microsoft.com/office/drawing/2014/main" id="{3A072894-E514-4631-BBE4-BE642C725191}"/>
              </a:ext>
            </a:extLst>
          </p:cNvPr>
          <p:cNvSpPr>
            <a:spLocks xmlns:a="http://schemas.openxmlformats.org/drawingml/2006/main" noGrp="1"/>
          </p:cNvSpPr>
          <p:nvPr/>
        </p:nvSpPr>
        <p:spPr>
          <a:xfrm xmlns:a="http://schemas.openxmlformats.org/drawingml/2006/main">
            <a:off x="685800" y="5381625"/>
            <a:ext cx="876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75DDD5"/>
                </a:solidFill>
                <a:latin typeface="Helvetica Neue"/>
                <a:ea typeface="Helvetica Neue"/>
                <a:cs typeface="Helvetica Neue"/>
              </a:defRPr>
            </a:pPr>
            <a:r>
              <a:rPr sz="1950" b="1">
                <a:solidFill>
                  <a:srgbClr val="75DDD5"/>
                </a:solidFill>
                <a:latin typeface="Helvetica Neue"/>
                <a:ea typeface="Helvetica Neue"/>
                <a:cs typeface="Helvetica Neue"/>
              </a:rPr>
              <a:t>Compartir esta información también ayuda a cuidar a otros</a:t>
            </a:r>
          </a:p>
        </p:txBody>
      </p:sp>
    </p:spTree>
    <p:extLst>
      <p:ext uri="{BB962C8B-B14F-4D97-AF65-F5344CB8AC3E}">
        <p14:creationId xmlns:p14="http://schemas.microsoft.com/office/powerpoint/2010/main" val="1027396775"/>
      </p:ext>
    </p:extLst>
  </p:cSld>
</p:sld>
</file>

<file path=ppt/slides/slide2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exto">
            <a:extLst xmlns:a="http://schemas.openxmlformats.org/drawingml/2006/main">
              <a:ext uri="{FF2B5EF4-FFF2-40B4-BE49-F238E27FC236}">
                <a16:creationId xmlns:a16="http://schemas.microsoft.com/office/drawing/2014/main" id="{45528B91-7215-4C0E-B3D9-C75775BF4E3A}"/>
              </a:ext>
            </a:extLst>
          </p:cNvPr>
          <p:cNvSpPr>
            <a:spLocks xmlns:a="http://schemas.openxmlformats.org/drawingml/2006/main" noGrp="1"/>
          </p:cNvSpPr>
          <p:nvPr/>
        </p:nvSpPr>
        <p:spPr>
          <a:xfrm xmlns:a="http://schemas.openxmlformats.org/drawingml/2006/main">
            <a:off x="685800" y="476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50" b="1">
                <a:solidFill>
                  <a:srgbClr val="10182B"/>
                </a:solidFill>
                <a:latin typeface="Helvetica Neue"/>
                <a:ea typeface="Helvetica Neue"/>
                <a:cs typeface="Helvetica Neue"/>
              </a:defRPr>
            </a:pPr>
            <a:r>
              <a:rPr sz="3750" b="1">
                <a:solidFill>
                  <a:srgbClr val="10182B"/>
                </a:solidFill>
                <a:latin typeface="Helvetica Neue"/>
                <a:ea typeface="Helvetica Neue"/>
                <a:cs typeface="Helvetica Neue"/>
              </a:rPr>
              <a:t>Fuentes oficiales</a:t>
            </a:r>
          </a:p>
        </p:txBody>
      </p:sp>
      <p:sp>
        <p:nvSpPr>
          <p:cNvPr id="2" name="texto">
            <a:extLst xmlns:a="http://schemas.openxmlformats.org/drawingml/2006/main">
              <a:ext uri="{FF2B5EF4-FFF2-40B4-BE49-F238E27FC236}">
                <a16:creationId xmlns:a16="http://schemas.microsoft.com/office/drawing/2014/main" id="{72431D7C-C917-4C6C-BF71-BD1401E5FE5B}"/>
              </a:ext>
            </a:extLst>
          </p:cNvPr>
          <p:cNvSpPr>
            <a:spLocks xmlns:a="http://schemas.openxmlformats.org/drawingml/2006/main" noGrp="1"/>
          </p:cNvSpPr>
          <p:nvPr/>
        </p:nvSpPr>
        <p:spPr>
          <a:xfrm xmlns:a="http://schemas.openxmlformats.org/drawingml/2006/main">
            <a:off x="11144250" y="381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650" b="0">
                <a:solidFill>
                  <a:srgbClr val="566276"/>
                </a:solidFill>
                <a:latin typeface="Helvetica Neue"/>
                <a:ea typeface="Helvetica Neue"/>
                <a:cs typeface="Helvetica Neue"/>
              </a:defRPr>
            </a:pPr>
            <a:r>
              <a:rPr sz="1650" b="0">
                <a:solidFill>
                  <a:srgbClr val="566276"/>
                </a:solidFill>
                <a:latin typeface="Helvetica Neue"/>
                <a:ea typeface="Helvetica Neue"/>
                <a:cs typeface="Helvetica Neue"/>
              </a:rPr>
              <a:t>21</a:t>
            </a:r>
          </a:p>
        </p:txBody>
      </p:sp>
      <p:sp>
        <p:nvSpPr>
          <p:cNvPr id="3" name="texto">
            <a:extLst xmlns:a="http://schemas.openxmlformats.org/drawingml/2006/main">
              <a:ext uri="{FF2B5EF4-FFF2-40B4-BE49-F238E27FC236}">
                <a16:creationId xmlns:a16="http://schemas.microsoft.com/office/drawing/2014/main" id="{A1D23C59-BB0F-49EF-BD86-7FBB3F34280A}"/>
              </a:ext>
            </a:extLst>
          </p:cNvPr>
          <p:cNvSpPr>
            <a:spLocks xmlns:a="http://schemas.openxmlformats.org/drawingml/2006/main" noGrp="1"/>
          </p:cNvSpPr>
          <p:nvPr/>
        </p:nvSpPr>
        <p:spPr>
          <a:xfrm xmlns:a="http://schemas.openxmlformats.org/drawingml/2006/main">
            <a:off x="685800" y="17621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hlinkClick xmlns:r="http://schemas.openxmlformats.org/officeDocument/2006/relationships" r:id="Rbc24363cad4a4078"/>
              </a:rPr>
              <a:t>Ley N.º 29733</a:t>
            </a:r>
          </a:p>
        </p:txBody>
      </p:sp>
      <p:sp>
        <p:nvSpPr>
          <p:cNvPr id="4" name="texto">
            <a:extLst xmlns:a="http://schemas.openxmlformats.org/drawingml/2006/main">
              <a:ext uri="{FF2B5EF4-FFF2-40B4-BE49-F238E27FC236}">
                <a16:creationId xmlns:a16="http://schemas.microsoft.com/office/drawing/2014/main" id="{4BCD1833-C01F-44D6-BE2F-C17B877E539B}"/>
              </a:ext>
            </a:extLst>
          </p:cNvPr>
          <p:cNvSpPr>
            <a:spLocks xmlns:a="http://schemas.openxmlformats.org/drawingml/2006/main" noGrp="1"/>
          </p:cNvSpPr>
          <p:nvPr/>
        </p:nvSpPr>
        <p:spPr>
          <a:xfrm xmlns:a="http://schemas.openxmlformats.org/drawingml/2006/main">
            <a:off x="685800" y="22098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66276"/>
                </a:solidFill>
                <a:latin typeface="Helvetica Neue"/>
                <a:ea typeface="Helvetica Neue"/>
                <a:cs typeface="Helvetica Neue"/>
              </a:defRPr>
            </a:pPr>
            <a:r>
              <a:rPr sz="1800" b="0">
                <a:solidFill>
                  <a:srgbClr val="566276"/>
                </a:solidFill>
                <a:latin typeface="Helvetica Neue"/>
                <a:ea typeface="Helvetica Neue"/>
                <a:cs typeface="Helvetica Neue"/>
              </a:rPr>
              <a:t>Congreso de la República</a:t>
            </a:r>
          </a:p>
        </p:txBody>
      </p:sp>
      <p:sp>
        <p:nvSpPr>
          <p:cNvPr id="5" name="texto">
            <a:extLst xmlns:a="http://schemas.openxmlformats.org/drawingml/2006/main">
              <a:ext uri="{FF2B5EF4-FFF2-40B4-BE49-F238E27FC236}">
                <a16:creationId xmlns:a16="http://schemas.microsoft.com/office/drawing/2014/main" id="{9E5F0672-9FAE-4EC7-BA1C-0EDD7EF09B24}"/>
              </a:ext>
            </a:extLst>
          </p:cNvPr>
          <p:cNvSpPr>
            <a:spLocks xmlns:a="http://schemas.openxmlformats.org/drawingml/2006/main" noGrp="1"/>
          </p:cNvSpPr>
          <p:nvPr/>
        </p:nvSpPr>
        <p:spPr>
          <a:xfrm xmlns:a="http://schemas.openxmlformats.org/drawingml/2006/main">
            <a:off x="685800" y="26860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hlinkClick xmlns:r="http://schemas.openxmlformats.org/officeDocument/2006/relationships" r:id="R6b7c1b9aadcd40a1"/>
              </a:rPr>
              <a:t>Reglamento: D. S. N.º 016-2024-JUS</a:t>
            </a:r>
          </a:p>
        </p:txBody>
      </p:sp>
      <p:sp>
        <p:nvSpPr>
          <p:cNvPr id="6" name="texto">
            <a:extLst xmlns:a="http://schemas.openxmlformats.org/drawingml/2006/main">
              <a:ext uri="{FF2B5EF4-FFF2-40B4-BE49-F238E27FC236}">
                <a16:creationId xmlns:a16="http://schemas.microsoft.com/office/drawing/2014/main" id="{462F1D2D-BBA9-49EB-A2B5-80BCEEFF3DCE}"/>
              </a:ext>
            </a:extLst>
          </p:cNvPr>
          <p:cNvSpPr>
            <a:spLocks xmlns:a="http://schemas.openxmlformats.org/drawingml/2006/main" noGrp="1"/>
          </p:cNvSpPr>
          <p:nvPr/>
        </p:nvSpPr>
        <p:spPr>
          <a:xfrm xmlns:a="http://schemas.openxmlformats.org/drawingml/2006/main">
            <a:off x="685800" y="31337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66276"/>
                </a:solidFill>
                <a:latin typeface="Helvetica Neue"/>
                <a:ea typeface="Helvetica Neue"/>
                <a:cs typeface="Helvetica Neue"/>
              </a:defRPr>
            </a:pPr>
            <a:r>
              <a:rPr sz="1800" b="0">
                <a:solidFill>
                  <a:srgbClr val="566276"/>
                </a:solidFill>
                <a:latin typeface="Helvetica Neue"/>
                <a:ea typeface="Helvetica Neue"/>
                <a:cs typeface="Helvetica Neue"/>
              </a:rPr>
              <a:t>Compendio oficial del MINJUSDH (2025)</a:t>
            </a:r>
          </a:p>
        </p:txBody>
      </p:sp>
      <p:sp>
        <p:nvSpPr>
          <p:cNvPr id="7" name="texto">
            <a:extLst xmlns:a="http://schemas.openxmlformats.org/drawingml/2006/main">
              <a:ext uri="{FF2B5EF4-FFF2-40B4-BE49-F238E27FC236}">
                <a16:creationId xmlns:a16="http://schemas.microsoft.com/office/drawing/2014/main" id="{8F43D84C-369C-44FF-8734-EDCA8A3A96F4}"/>
              </a:ext>
            </a:extLst>
          </p:cNvPr>
          <p:cNvSpPr>
            <a:spLocks xmlns:a="http://schemas.openxmlformats.org/drawingml/2006/main" noGrp="1"/>
          </p:cNvSpPr>
          <p:nvPr/>
        </p:nvSpPr>
        <p:spPr>
          <a:xfrm xmlns:a="http://schemas.openxmlformats.org/drawingml/2006/main">
            <a:off x="685800" y="36099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hlinkClick xmlns:r="http://schemas.openxmlformats.org/officeDocument/2006/relationships" r:id="R81e3b352d30b4903"/>
              </a:rPr>
              <a:t>Derechos ARCO y tutela</a:t>
            </a:r>
          </a:p>
        </p:txBody>
      </p:sp>
      <p:sp>
        <p:nvSpPr>
          <p:cNvPr id="8" name="texto">
            <a:extLst xmlns:a="http://schemas.openxmlformats.org/drawingml/2006/main">
              <a:ext uri="{FF2B5EF4-FFF2-40B4-BE49-F238E27FC236}">
                <a16:creationId xmlns:a16="http://schemas.microsoft.com/office/drawing/2014/main" id="{8D6E4433-7D58-44DC-8246-1E7F70A11ACC}"/>
              </a:ext>
            </a:extLst>
          </p:cNvPr>
          <p:cNvSpPr>
            <a:spLocks xmlns:a="http://schemas.openxmlformats.org/drawingml/2006/main" noGrp="1"/>
          </p:cNvSpPr>
          <p:nvPr/>
        </p:nvSpPr>
        <p:spPr>
          <a:xfrm xmlns:a="http://schemas.openxmlformats.org/drawingml/2006/main">
            <a:off x="685800" y="4057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66276"/>
                </a:solidFill>
                <a:latin typeface="Helvetica Neue"/>
                <a:ea typeface="Helvetica Neue"/>
                <a:cs typeface="Helvetica Neue"/>
              </a:defRPr>
            </a:pPr>
            <a:r>
              <a:rPr sz="1800" b="0">
                <a:solidFill>
                  <a:srgbClr val="566276"/>
                </a:solidFill>
                <a:latin typeface="Helvetica Neue"/>
                <a:ea typeface="Helvetica Neue"/>
                <a:cs typeface="Helvetica Neue"/>
              </a:rPr>
              <a:t>ANPD: gob.pe/9269</a:t>
            </a:r>
          </a:p>
        </p:txBody>
      </p:sp>
      <p:sp>
        <p:nvSpPr>
          <p:cNvPr id="9" name="texto">
            <a:extLst xmlns:a="http://schemas.openxmlformats.org/drawingml/2006/main">
              <a:ext uri="{FF2B5EF4-FFF2-40B4-BE49-F238E27FC236}">
                <a16:creationId xmlns:a16="http://schemas.microsoft.com/office/drawing/2014/main" id="{302E0535-7D54-4D5F-A22F-DB7979F620D9}"/>
              </a:ext>
            </a:extLst>
          </p:cNvPr>
          <p:cNvSpPr>
            <a:spLocks xmlns:a="http://schemas.openxmlformats.org/drawingml/2006/main" noGrp="1"/>
          </p:cNvSpPr>
          <p:nvPr/>
        </p:nvSpPr>
        <p:spPr>
          <a:xfrm xmlns:a="http://schemas.openxmlformats.org/drawingml/2006/main">
            <a:off x="685800" y="45339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hlinkClick xmlns:r="http://schemas.openxmlformats.org/officeDocument/2006/relationships" r:id="Rd3622821466a4f93"/>
              </a:rPr>
              <a:t>Vigencia: 31 de marzo de 2025</a:t>
            </a:r>
          </a:p>
        </p:txBody>
      </p:sp>
      <p:sp>
        <p:nvSpPr>
          <p:cNvPr id="10" name="texto">
            <a:extLst xmlns:a="http://schemas.openxmlformats.org/drawingml/2006/main">
              <a:ext uri="{FF2B5EF4-FFF2-40B4-BE49-F238E27FC236}">
                <a16:creationId xmlns:a16="http://schemas.microsoft.com/office/drawing/2014/main" id="{AFBC7A3A-E0AD-4D6B-B819-CA5FF75F90CD}"/>
              </a:ext>
            </a:extLst>
          </p:cNvPr>
          <p:cNvSpPr>
            <a:spLocks xmlns:a="http://schemas.openxmlformats.org/drawingml/2006/main" noGrp="1"/>
          </p:cNvSpPr>
          <p:nvPr/>
        </p:nvSpPr>
        <p:spPr>
          <a:xfrm xmlns:a="http://schemas.openxmlformats.org/drawingml/2006/main">
            <a:off x="685800" y="49815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66276"/>
                </a:solidFill>
                <a:latin typeface="Helvetica Neue"/>
                <a:ea typeface="Helvetica Neue"/>
                <a:cs typeface="Helvetica Neue"/>
              </a:defRPr>
            </a:pPr>
            <a:r>
              <a:rPr sz="1800" b="0">
                <a:solidFill>
                  <a:srgbClr val="566276"/>
                </a:solidFill>
                <a:latin typeface="Helvetica Neue"/>
                <a:ea typeface="Helvetica Neue"/>
                <a:cs typeface="Helvetica Neue"/>
              </a:rPr>
              <a:t>ANPD: balance de gestión 2018–2025</a:t>
            </a:r>
          </a:p>
        </p:txBody>
      </p:sp>
      <p:sp>
        <p:nvSpPr>
          <p:cNvPr id="11" name="texto">
            <a:extLst xmlns:a="http://schemas.openxmlformats.org/drawingml/2006/main">
              <a:ext uri="{FF2B5EF4-FFF2-40B4-BE49-F238E27FC236}">
                <a16:creationId xmlns:a16="http://schemas.microsoft.com/office/drawing/2014/main" id="{196DCC28-8D10-4E8C-A968-DC9703FC0EDF}"/>
              </a:ext>
            </a:extLst>
          </p:cNvPr>
          <p:cNvSpPr>
            <a:spLocks xmlns:a="http://schemas.openxmlformats.org/drawingml/2006/main" noGrp="1"/>
          </p:cNvSpPr>
          <p:nvPr/>
        </p:nvSpPr>
        <p:spPr>
          <a:xfrm xmlns:a="http://schemas.openxmlformats.org/drawingml/2006/main">
            <a:off x="685800" y="5924550"/>
            <a:ext cx="885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566276"/>
                </a:solidFill>
                <a:latin typeface="Helvetica Neue"/>
                <a:ea typeface="Helvetica Neue"/>
                <a:cs typeface="Helvetica Neue"/>
              </a:defRPr>
            </a:pPr>
            <a:r>
              <a:rPr sz="1650" b="0">
                <a:solidFill>
                  <a:srgbClr val="566276"/>
                </a:solidFill>
                <a:latin typeface="Helvetica Neue"/>
                <a:ea typeface="Helvetica Neue"/>
                <a:cs typeface="Helvetica Neue"/>
              </a:rPr>
              <a:t>Consulta de fuentes: 1 de octubre de 2026</a:t>
            </a:r>
          </a:p>
        </p:txBody>
      </p:sp>
    </p:spTree>
    <p:extLst>
      <p:ext uri="{BB962C8B-B14F-4D97-AF65-F5344CB8AC3E}">
        <p14:creationId xmlns:p14="http://schemas.microsoft.com/office/powerpoint/2010/main" val="15561858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2026-10-01T17:57:10.4900000Z</dcterms:created>
  <dcterms:modified xsi:type="dcterms:W3CDTF">2026-10-01T17:57:10.4900000Z</dcterms:modified>
</coreProperties>
</file>